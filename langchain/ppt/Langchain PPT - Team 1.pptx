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Poppins Semi-Bold" charset="1" panose="00000700000000000000"/>
      <p:regular r:id="rId24"/>
    </p:embeddedFont>
    <p:embeddedFont>
      <p:font typeface="Poppins" charset="1" panose="00000500000000000000"/>
      <p:regular r:id="rId25"/>
    </p:embeddedFont>
    <p:embeddedFont>
      <p:font typeface="Poppins Bold" charset="1" panose="00000800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1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4.jpeg" Type="http://schemas.openxmlformats.org/officeDocument/2006/relationships/image"/><Relationship Id="rId7" Target="../media/image15.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2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2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5367786" y="6282760"/>
            <a:ext cx="12920214" cy="4533820"/>
          </a:xfrm>
          <a:custGeom>
            <a:avLst/>
            <a:gdLst/>
            <a:ahLst/>
            <a:cxnLst/>
            <a:rect r="r" b="b" t="t" l="l"/>
            <a:pathLst>
              <a:path h="4533820" w="12920214">
                <a:moveTo>
                  <a:pt x="0" y="4533820"/>
                </a:moveTo>
                <a:lnTo>
                  <a:pt x="12920214" y="4533820"/>
                </a:lnTo>
                <a:lnTo>
                  <a:pt x="12920214" y="0"/>
                </a:lnTo>
                <a:lnTo>
                  <a:pt x="0" y="0"/>
                </a:lnTo>
                <a:lnTo>
                  <a:pt x="0" y="453382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430000" y="0"/>
            <a:ext cx="6858000" cy="10287000"/>
          </a:xfrm>
          <a:custGeom>
            <a:avLst/>
            <a:gdLst/>
            <a:ahLst/>
            <a:cxnLst/>
            <a:rect r="r" b="b" t="t" l="l"/>
            <a:pathLst>
              <a:path h="10287000" w="6858000">
                <a:moveTo>
                  <a:pt x="0" y="0"/>
                </a:moveTo>
                <a:lnTo>
                  <a:pt x="6858000" y="0"/>
                </a:lnTo>
                <a:lnTo>
                  <a:pt x="6858000" y="10287000"/>
                </a:lnTo>
                <a:lnTo>
                  <a:pt x="0" y="10287000"/>
                </a:lnTo>
                <a:lnTo>
                  <a:pt x="0" y="0"/>
                </a:lnTo>
                <a:close/>
              </a:path>
            </a:pathLst>
          </a:custGeom>
          <a:blipFill>
            <a:blip r:embed="rId4"/>
            <a:stretch>
              <a:fillRect l="0" t="0" r="0" b="0"/>
            </a:stretch>
          </a:blipFill>
        </p:spPr>
      </p:sp>
      <p:sp>
        <p:nvSpPr>
          <p:cNvPr name="TextBox 4" id="4"/>
          <p:cNvSpPr txBox="true"/>
          <p:nvPr/>
        </p:nvSpPr>
        <p:spPr>
          <a:xfrm rot="0">
            <a:off x="1028700" y="1967980"/>
            <a:ext cx="10275052" cy="2295525"/>
          </a:xfrm>
          <a:prstGeom prst="rect">
            <a:avLst/>
          </a:prstGeom>
        </p:spPr>
        <p:txBody>
          <a:bodyPr anchor="t" rtlCol="false" tIns="0" lIns="0" bIns="0" rIns="0">
            <a:spAutoFit/>
          </a:bodyPr>
          <a:lstStyle/>
          <a:p>
            <a:pPr algn="l" marL="0" indent="0" lvl="0">
              <a:lnSpc>
                <a:spcPts val="17158"/>
              </a:lnSpc>
            </a:pPr>
            <a:r>
              <a:rPr lang="en-US" b="true" sz="14298">
                <a:solidFill>
                  <a:srgbClr val="5492B1"/>
                </a:solidFill>
                <a:latin typeface="Poppins Semi-Bold"/>
                <a:ea typeface="Poppins Semi-Bold"/>
                <a:cs typeface="Poppins Semi-Bold"/>
                <a:sym typeface="Poppins Semi-Bold"/>
              </a:rPr>
              <a:t>Langchain</a:t>
            </a:r>
          </a:p>
        </p:txBody>
      </p:sp>
      <p:sp>
        <p:nvSpPr>
          <p:cNvPr name="Freeform 5" id="5"/>
          <p:cNvSpPr/>
          <p:nvPr/>
        </p:nvSpPr>
        <p:spPr>
          <a:xfrm flipH="true" flipV="false" rot="0">
            <a:off x="11303752" y="4695265"/>
            <a:ext cx="4578233" cy="5591735"/>
          </a:xfrm>
          <a:custGeom>
            <a:avLst/>
            <a:gdLst/>
            <a:ahLst/>
            <a:cxnLst/>
            <a:rect r="r" b="b" t="t" l="l"/>
            <a:pathLst>
              <a:path h="5591735" w="4578233">
                <a:moveTo>
                  <a:pt x="4578233" y="0"/>
                </a:moveTo>
                <a:lnTo>
                  <a:pt x="0" y="0"/>
                </a:lnTo>
                <a:lnTo>
                  <a:pt x="0" y="5591735"/>
                </a:lnTo>
                <a:lnTo>
                  <a:pt x="4578233" y="5591735"/>
                </a:lnTo>
                <a:lnTo>
                  <a:pt x="4578233" y="0"/>
                </a:lnTo>
                <a:close/>
              </a:path>
            </a:pathLst>
          </a:custGeom>
          <a:blipFill>
            <a:blip r:embed="rId5"/>
            <a:stretch>
              <a:fillRect l="0" t="0" r="0" b="0"/>
            </a:stretch>
          </a:blipFill>
        </p:spPr>
      </p:sp>
      <p:grpSp>
        <p:nvGrpSpPr>
          <p:cNvPr name="Group 6" id="6"/>
          <p:cNvGrpSpPr/>
          <p:nvPr/>
        </p:nvGrpSpPr>
        <p:grpSpPr>
          <a:xfrm rot="0">
            <a:off x="1877597" y="5177905"/>
            <a:ext cx="7266403" cy="431626"/>
            <a:chOff x="0" y="0"/>
            <a:chExt cx="9688537" cy="575502"/>
          </a:xfrm>
        </p:grpSpPr>
        <p:grpSp>
          <p:nvGrpSpPr>
            <p:cNvPr name="Group 7" id="7"/>
            <p:cNvGrpSpPr/>
            <p:nvPr/>
          </p:nvGrpSpPr>
          <p:grpSpPr>
            <a:xfrm rot="0">
              <a:off x="0" y="0"/>
              <a:ext cx="500430" cy="543253"/>
              <a:chOff x="0" y="0"/>
              <a:chExt cx="98850" cy="107309"/>
            </a:xfrm>
          </p:grpSpPr>
          <p:sp>
            <p:nvSpPr>
              <p:cNvPr name="Freeform 8" id="8"/>
              <p:cNvSpPr/>
              <p:nvPr/>
            </p:nvSpPr>
            <p:spPr>
              <a:xfrm flipH="false" flipV="false" rot="0">
                <a:off x="0" y="0"/>
                <a:ext cx="98850" cy="107309"/>
              </a:xfrm>
              <a:custGeom>
                <a:avLst/>
                <a:gdLst/>
                <a:ahLst/>
                <a:cxnLst/>
                <a:rect r="r" b="b" t="t" l="l"/>
                <a:pathLst>
                  <a:path h="107309" w="98850">
                    <a:moveTo>
                      <a:pt x="0" y="0"/>
                    </a:moveTo>
                    <a:lnTo>
                      <a:pt x="98850" y="0"/>
                    </a:lnTo>
                    <a:lnTo>
                      <a:pt x="98850" y="107309"/>
                    </a:lnTo>
                    <a:lnTo>
                      <a:pt x="0" y="107309"/>
                    </a:lnTo>
                    <a:close/>
                  </a:path>
                </a:pathLst>
              </a:custGeom>
              <a:solidFill>
                <a:srgbClr val="7FD3F2"/>
              </a:solidFill>
            </p:spPr>
          </p:sp>
          <p:sp>
            <p:nvSpPr>
              <p:cNvPr name="TextBox 9" id="9"/>
              <p:cNvSpPr txBox="true"/>
              <p:nvPr/>
            </p:nvSpPr>
            <p:spPr>
              <a:xfrm>
                <a:off x="0" y="-66675"/>
                <a:ext cx="98850" cy="173984"/>
              </a:xfrm>
              <a:prstGeom prst="rect">
                <a:avLst/>
              </a:prstGeom>
            </p:spPr>
            <p:txBody>
              <a:bodyPr anchor="ctr" rtlCol="false" tIns="50800" lIns="50800" bIns="50800" rIns="50800"/>
              <a:lstStyle/>
              <a:p>
                <a:pPr algn="ctr">
                  <a:lnSpc>
                    <a:spcPts val="2914"/>
                  </a:lnSpc>
                </a:pPr>
              </a:p>
            </p:txBody>
          </p:sp>
        </p:grpSp>
        <p:sp>
          <p:nvSpPr>
            <p:cNvPr name="TextBox 10" id="10"/>
            <p:cNvSpPr txBox="true"/>
            <p:nvPr/>
          </p:nvSpPr>
          <p:spPr>
            <a:xfrm rot="0">
              <a:off x="944660" y="-76200"/>
              <a:ext cx="8743877" cy="651702"/>
            </a:xfrm>
            <a:prstGeom prst="rect">
              <a:avLst/>
            </a:prstGeom>
          </p:spPr>
          <p:txBody>
            <a:bodyPr anchor="t" rtlCol="false" tIns="0" lIns="0" bIns="0" rIns="0">
              <a:spAutoFit/>
            </a:bodyPr>
            <a:lstStyle/>
            <a:p>
              <a:pPr algn="l">
                <a:lnSpc>
                  <a:spcPts val="4034"/>
                </a:lnSpc>
              </a:pPr>
              <a:r>
                <a:rPr lang="en-US" sz="2881">
                  <a:solidFill>
                    <a:srgbClr val="000000"/>
                  </a:solidFill>
                  <a:latin typeface="Poppins"/>
                  <a:ea typeface="Poppins"/>
                  <a:cs typeface="Poppins"/>
                  <a:sym typeface="Poppins"/>
                </a:rPr>
                <a:t>Lovedeep</a:t>
              </a:r>
            </a:p>
          </p:txBody>
        </p:sp>
      </p:grpSp>
      <p:sp>
        <p:nvSpPr>
          <p:cNvPr name="Freeform 11" id="11"/>
          <p:cNvSpPr/>
          <p:nvPr/>
        </p:nvSpPr>
        <p:spPr>
          <a:xfrm flipH="true" flipV="false" rot="0">
            <a:off x="262678" y="6952511"/>
            <a:ext cx="2576233" cy="3093729"/>
          </a:xfrm>
          <a:custGeom>
            <a:avLst/>
            <a:gdLst/>
            <a:ahLst/>
            <a:cxnLst/>
            <a:rect r="r" b="b" t="t" l="l"/>
            <a:pathLst>
              <a:path h="3093729" w="2576233">
                <a:moveTo>
                  <a:pt x="2576233" y="0"/>
                </a:moveTo>
                <a:lnTo>
                  <a:pt x="0" y="0"/>
                </a:lnTo>
                <a:lnTo>
                  <a:pt x="0" y="3093729"/>
                </a:lnTo>
                <a:lnTo>
                  <a:pt x="2576233" y="3093729"/>
                </a:lnTo>
                <a:lnTo>
                  <a:pt x="2576233"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1877597" y="5849395"/>
            <a:ext cx="7266403" cy="431626"/>
            <a:chOff x="0" y="0"/>
            <a:chExt cx="9688537" cy="575502"/>
          </a:xfrm>
        </p:grpSpPr>
        <p:grpSp>
          <p:nvGrpSpPr>
            <p:cNvPr name="Group 13" id="13"/>
            <p:cNvGrpSpPr/>
            <p:nvPr/>
          </p:nvGrpSpPr>
          <p:grpSpPr>
            <a:xfrm rot="0">
              <a:off x="0" y="0"/>
              <a:ext cx="500430" cy="543253"/>
              <a:chOff x="0" y="0"/>
              <a:chExt cx="98850" cy="107309"/>
            </a:xfrm>
          </p:grpSpPr>
          <p:sp>
            <p:nvSpPr>
              <p:cNvPr name="Freeform 14" id="14"/>
              <p:cNvSpPr/>
              <p:nvPr/>
            </p:nvSpPr>
            <p:spPr>
              <a:xfrm flipH="false" flipV="false" rot="0">
                <a:off x="0" y="0"/>
                <a:ext cx="98850" cy="107309"/>
              </a:xfrm>
              <a:custGeom>
                <a:avLst/>
                <a:gdLst/>
                <a:ahLst/>
                <a:cxnLst/>
                <a:rect r="r" b="b" t="t" l="l"/>
                <a:pathLst>
                  <a:path h="107309" w="98850">
                    <a:moveTo>
                      <a:pt x="0" y="0"/>
                    </a:moveTo>
                    <a:lnTo>
                      <a:pt x="98850" y="0"/>
                    </a:lnTo>
                    <a:lnTo>
                      <a:pt x="98850" y="107309"/>
                    </a:lnTo>
                    <a:lnTo>
                      <a:pt x="0" y="107309"/>
                    </a:lnTo>
                    <a:close/>
                  </a:path>
                </a:pathLst>
              </a:custGeom>
              <a:solidFill>
                <a:srgbClr val="7FD3F2"/>
              </a:solidFill>
            </p:spPr>
          </p:sp>
          <p:sp>
            <p:nvSpPr>
              <p:cNvPr name="TextBox 15" id="15"/>
              <p:cNvSpPr txBox="true"/>
              <p:nvPr/>
            </p:nvSpPr>
            <p:spPr>
              <a:xfrm>
                <a:off x="0" y="-66675"/>
                <a:ext cx="98850" cy="173984"/>
              </a:xfrm>
              <a:prstGeom prst="rect">
                <a:avLst/>
              </a:prstGeom>
            </p:spPr>
            <p:txBody>
              <a:bodyPr anchor="ctr" rtlCol="false" tIns="50800" lIns="50800" bIns="50800" rIns="50800"/>
              <a:lstStyle/>
              <a:p>
                <a:pPr algn="ctr">
                  <a:lnSpc>
                    <a:spcPts val="2914"/>
                  </a:lnSpc>
                </a:pPr>
              </a:p>
            </p:txBody>
          </p:sp>
        </p:grpSp>
        <p:sp>
          <p:nvSpPr>
            <p:cNvPr name="TextBox 16" id="16"/>
            <p:cNvSpPr txBox="true"/>
            <p:nvPr/>
          </p:nvSpPr>
          <p:spPr>
            <a:xfrm rot="0">
              <a:off x="944660" y="-76200"/>
              <a:ext cx="8743877" cy="651702"/>
            </a:xfrm>
            <a:prstGeom prst="rect">
              <a:avLst/>
            </a:prstGeom>
          </p:spPr>
          <p:txBody>
            <a:bodyPr anchor="t" rtlCol="false" tIns="0" lIns="0" bIns="0" rIns="0">
              <a:spAutoFit/>
            </a:bodyPr>
            <a:lstStyle/>
            <a:p>
              <a:pPr algn="l">
                <a:lnSpc>
                  <a:spcPts val="4034"/>
                </a:lnSpc>
              </a:pPr>
              <a:r>
                <a:rPr lang="en-US" sz="2881">
                  <a:solidFill>
                    <a:srgbClr val="000000"/>
                  </a:solidFill>
                  <a:latin typeface="Poppins"/>
                  <a:ea typeface="Poppins"/>
                  <a:cs typeface="Poppins"/>
                  <a:sym typeface="Poppins"/>
                </a:rPr>
                <a:t>Prachi</a:t>
              </a:r>
            </a:p>
          </p:txBody>
        </p:sp>
      </p:grpSp>
      <p:grpSp>
        <p:nvGrpSpPr>
          <p:cNvPr name="Group 17" id="17"/>
          <p:cNvGrpSpPr/>
          <p:nvPr/>
        </p:nvGrpSpPr>
        <p:grpSpPr>
          <a:xfrm rot="0">
            <a:off x="1877597" y="6520885"/>
            <a:ext cx="7266403" cy="431626"/>
            <a:chOff x="0" y="0"/>
            <a:chExt cx="9688537" cy="575502"/>
          </a:xfrm>
        </p:grpSpPr>
        <p:grpSp>
          <p:nvGrpSpPr>
            <p:cNvPr name="Group 18" id="18"/>
            <p:cNvGrpSpPr/>
            <p:nvPr/>
          </p:nvGrpSpPr>
          <p:grpSpPr>
            <a:xfrm rot="0">
              <a:off x="0" y="0"/>
              <a:ext cx="500430" cy="543253"/>
              <a:chOff x="0" y="0"/>
              <a:chExt cx="98850" cy="107309"/>
            </a:xfrm>
          </p:grpSpPr>
          <p:sp>
            <p:nvSpPr>
              <p:cNvPr name="Freeform 19" id="19"/>
              <p:cNvSpPr/>
              <p:nvPr/>
            </p:nvSpPr>
            <p:spPr>
              <a:xfrm flipH="false" flipV="false" rot="0">
                <a:off x="0" y="0"/>
                <a:ext cx="98850" cy="107309"/>
              </a:xfrm>
              <a:custGeom>
                <a:avLst/>
                <a:gdLst/>
                <a:ahLst/>
                <a:cxnLst/>
                <a:rect r="r" b="b" t="t" l="l"/>
                <a:pathLst>
                  <a:path h="107309" w="98850">
                    <a:moveTo>
                      <a:pt x="0" y="0"/>
                    </a:moveTo>
                    <a:lnTo>
                      <a:pt x="98850" y="0"/>
                    </a:lnTo>
                    <a:lnTo>
                      <a:pt x="98850" y="107309"/>
                    </a:lnTo>
                    <a:lnTo>
                      <a:pt x="0" y="107309"/>
                    </a:lnTo>
                    <a:close/>
                  </a:path>
                </a:pathLst>
              </a:custGeom>
              <a:solidFill>
                <a:srgbClr val="7FD3F2"/>
              </a:solidFill>
            </p:spPr>
          </p:sp>
          <p:sp>
            <p:nvSpPr>
              <p:cNvPr name="TextBox 20" id="20"/>
              <p:cNvSpPr txBox="true"/>
              <p:nvPr/>
            </p:nvSpPr>
            <p:spPr>
              <a:xfrm>
                <a:off x="0" y="-66675"/>
                <a:ext cx="98850" cy="173984"/>
              </a:xfrm>
              <a:prstGeom prst="rect">
                <a:avLst/>
              </a:prstGeom>
            </p:spPr>
            <p:txBody>
              <a:bodyPr anchor="ctr" rtlCol="false" tIns="50800" lIns="50800" bIns="50800" rIns="50800"/>
              <a:lstStyle/>
              <a:p>
                <a:pPr algn="ctr">
                  <a:lnSpc>
                    <a:spcPts val="2914"/>
                  </a:lnSpc>
                </a:pPr>
              </a:p>
            </p:txBody>
          </p:sp>
        </p:grpSp>
        <p:sp>
          <p:nvSpPr>
            <p:cNvPr name="TextBox 21" id="21"/>
            <p:cNvSpPr txBox="true"/>
            <p:nvPr/>
          </p:nvSpPr>
          <p:spPr>
            <a:xfrm rot="0">
              <a:off x="944660" y="-76200"/>
              <a:ext cx="8743877" cy="651702"/>
            </a:xfrm>
            <a:prstGeom prst="rect">
              <a:avLst/>
            </a:prstGeom>
          </p:spPr>
          <p:txBody>
            <a:bodyPr anchor="t" rtlCol="false" tIns="0" lIns="0" bIns="0" rIns="0">
              <a:spAutoFit/>
            </a:bodyPr>
            <a:lstStyle/>
            <a:p>
              <a:pPr algn="l">
                <a:lnSpc>
                  <a:spcPts val="4034"/>
                </a:lnSpc>
              </a:pPr>
              <a:r>
                <a:rPr lang="en-US" sz="2881">
                  <a:solidFill>
                    <a:srgbClr val="000000"/>
                  </a:solidFill>
                  <a:latin typeface="Poppins"/>
                  <a:ea typeface="Poppins"/>
                  <a:cs typeface="Poppins"/>
                  <a:sym typeface="Poppins"/>
                </a:rPr>
                <a:t>Preetham</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223287" y="0"/>
            <a:ext cx="7064713" cy="10287000"/>
            <a:chOff x="0" y="0"/>
            <a:chExt cx="1860665" cy="2709333"/>
          </a:xfrm>
        </p:grpSpPr>
        <p:sp>
          <p:nvSpPr>
            <p:cNvPr name="Freeform 3" id="3"/>
            <p:cNvSpPr/>
            <p:nvPr/>
          </p:nvSpPr>
          <p:spPr>
            <a:xfrm flipH="false" flipV="false" rot="0">
              <a:off x="0" y="0"/>
              <a:ext cx="1860665" cy="2709333"/>
            </a:xfrm>
            <a:custGeom>
              <a:avLst/>
              <a:gdLst/>
              <a:ahLst/>
              <a:cxnLst/>
              <a:rect r="r" b="b" t="t" l="l"/>
              <a:pathLst>
                <a:path h="2709333" w="1860665">
                  <a:moveTo>
                    <a:pt x="0" y="0"/>
                  </a:moveTo>
                  <a:lnTo>
                    <a:pt x="1860665" y="0"/>
                  </a:lnTo>
                  <a:lnTo>
                    <a:pt x="1860665" y="2709333"/>
                  </a:lnTo>
                  <a:lnTo>
                    <a:pt x="0" y="2709333"/>
                  </a:lnTo>
                  <a:close/>
                </a:path>
              </a:pathLst>
            </a:custGeom>
            <a:solidFill>
              <a:srgbClr val="59B1C6"/>
            </a:solidFill>
          </p:spPr>
        </p:sp>
        <p:sp>
          <p:nvSpPr>
            <p:cNvPr name="TextBox 4" id="4"/>
            <p:cNvSpPr txBox="true"/>
            <p:nvPr/>
          </p:nvSpPr>
          <p:spPr>
            <a:xfrm>
              <a:off x="0" y="-66675"/>
              <a:ext cx="1860665" cy="2776008"/>
            </a:xfrm>
            <a:prstGeom prst="rect">
              <a:avLst/>
            </a:prstGeom>
          </p:spPr>
          <p:txBody>
            <a:bodyPr anchor="ctr" rtlCol="false" tIns="50800" lIns="50800" bIns="50800" rIns="50800"/>
            <a:lstStyle/>
            <a:p>
              <a:pPr algn="ctr">
                <a:lnSpc>
                  <a:spcPts val="2914"/>
                </a:lnSpc>
              </a:pPr>
            </a:p>
          </p:txBody>
        </p:sp>
      </p:grpSp>
      <p:sp>
        <p:nvSpPr>
          <p:cNvPr name="Freeform 5" id="5"/>
          <p:cNvSpPr/>
          <p:nvPr/>
        </p:nvSpPr>
        <p:spPr>
          <a:xfrm flipH="true" flipV="false" rot="0">
            <a:off x="207960" y="5780054"/>
            <a:ext cx="3552570" cy="4266187"/>
          </a:xfrm>
          <a:custGeom>
            <a:avLst/>
            <a:gdLst/>
            <a:ahLst/>
            <a:cxnLst/>
            <a:rect r="r" b="b" t="t" l="l"/>
            <a:pathLst>
              <a:path h="4266187" w="3552570">
                <a:moveTo>
                  <a:pt x="3552570" y="0"/>
                </a:moveTo>
                <a:lnTo>
                  <a:pt x="0" y="0"/>
                </a:lnTo>
                <a:lnTo>
                  <a:pt x="0" y="4266186"/>
                </a:lnTo>
                <a:lnTo>
                  <a:pt x="3552570" y="4266186"/>
                </a:lnTo>
                <a:lnTo>
                  <a:pt x="355257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132459" y="1028700"/>
            <a:ext cx="5246370" cy="4475129"/>
            <a:chOff x="0" y="0"/>
            <a:chExt cx="812800" cy="693315"/>
          </a:xfrm>
        </p:grpSpPr>
        <p:sp>
          <p:nvSpPr>
            <p:cNvPr name="Freeform 7" id="7"/>
            <p:cNvSpPr/>
            <p:nvPr/>
          </p:nvSpPr>
          <p:spPr>
            <a:xfrm flipH="false" flipV="false" rot="0">
              <a:off x="0" y="0"/>
              <a:ext cx="812800" cy="693315"/>
            </a:xfrm>
            <a:custGeom>
              <a:avLst/>
              <a:gdLst/>
              <a:ahLst/>
              <a:cxnLst/>
              <a:rect r="r" b="b" t="t" l="l"/>
              <a:pathLst>
                <a:path h="693315" w="812800">
                  <a:moveTo>
                    <a:pt x="33940" y="0"/>
                  </a:moveTo>
                  <a:lnTo>
                    <a:pt x="778860" y="0"/>
                  </a:lnTo>
                  <a:cubicBezTo>
                    <a:pt x="797604" y="0"/>
                    <a:pt x="812800" y="15196"/>
                    <a:pt x="812800" y="33940"/>
                  </a:cubicBezTo>
                  <a:lnTo>
                    <a:pt x="812800" y="659374"/>
                  </a:lnTo>
                  <a:cubicBezTo>
                    <a:pt x="812800" y="678119"/>
                    <a:pt x="797604" y="693315"/>
                    <a:pt x="778860" y="693315"/>
                  </a:cubicBezTo>
                  <a:lnTo>
                    <a:pt x="33940" y="693315"/>
                  </a:lnTo>
                  <a:cubicBezTo>
                    <a:pt x="24939" y="693315"/>
                    <a:pt x="16306" y="689739"/>
                    <a:pt x="9941" y="683374"/>
                  </a:cubicBezTo>
                  <a:cubicBezTo>
                    <a:pt x="3576" y="677009"/>
                    <a:pt x="0" y="668376"/>
                    <a:pt x="0" y="659374"/>
                  </a:cubicBezTo>
                  <a:lnTo>
                    <a:pt x="0" y="33940"/>
                  </a:lnTo>
                  <a:cubicBezTo>
                    <a:pt x="0" y="15196"/>
                    <a:pt x="15196" y="0"/>
                    <a:pt x="33940" y="0"/>
                  </a:cubicBezTo>
                  <a:close/>
                </a:path>
              </a:pathLst>
            </a:custGeom>
            <a:blipFill>
              <a:blip r:embed="rId4"/>
              <a:stretch>
                <a:fillRect l="0" t="-8616" r="0" b="-8616"/>
              </a:stretch>
            </a:blipFill>
          </p:spPr>
        </p:sp>
      </p:grpSp>
      <p:grpSp>
        <p:nvGrpSpPr>
          <p:cNvPr name="Group 8" id="8"/>
          <p:cNvGrpSpPr/>
          <p:nvPr/>
        </p:nvGrpSpPr>
        <p:grpSpPr>
          <a:xfrm rot="0">
            <a:off x="12132459" y="6327235"/>
            <a:ext cx="5246370" cy="2931065"/>
            <a:chOff x="0" y="0"/>
            <a:chExt cx="812800" cy="454099"/>
          </a:xfrm>
        </p:grpSpPr>
        <p:sp>
          <p:nvSpPr>
            <p:cNvPr name="Freeform 9" id="9"/>
            <p:cNvSpPr/>
            <p:nvPr/>
          </p:nvSpPr>
          <p:spPr>
            <a:xfrm flipH="false" flipV="false" rot="0">
              <a:off x="0" y="0"/>
              <a:ext cx="812800" cy="454099"/>
            </a:xfrm>
            <a:custGeom>
              <a:avLst/>
              <a:gdLst/>
              <a:ahLst/>
              <a:cxnLst/>
              <a:rect r="r" b="b" t="t" l="l"/>
              <a:pathLst>
                <a:path h="454099" w="812800">
                  <a:moveTo>
                    <a:pt x="33940" y="0"/>
                  </a:moveTo>
                  <a:lnTo>
                    <a:pt x="778860" y="0"/>
                  </a:lnTo>
                  <a:cubicBezTo>
                    <a:pt x="797604" y="0"/>
                    <a:pt x="812800" y="15196"/>
                    <a:pt x="812800" y="33940"/>
                  </a:cubicBezTo>
                  <a:lnTo>
                    <a:pt x="812800" y="420158"/>
                  </a:lnTo>
                  <a:cubicBezTo>
                    <a:pt x="812800" y="438903"/>
                    <a:pt x="797604" y="454099"/>
                    <a:pt x="778860" y="454099"/>
                  </a:cubicBezTo>
                  <a:lnTo>
                    <a:pt x="33940" y="454099"/>
                  </a:lnTo>
                  <a:cubicBezTo>
                    <a:pt x="15196" y="454099"/>
                    <a:pt x="0" y="438903"/>
                    <a:pt x="0" y="420158"/>
                  </a:cubicBezTo>
                  <a:lnTo>
                    <a:pt x="0" y="33940"/>
                  </a:lnTo>
                  <a:cubicBezTo>
                    <a:pt x="0" y="15196"/>
                    <a:pt x="15196" y="0"/>
                    <a:pt x="33940" y="0"/>
                  </a:cubicBezTo>
                  <a:close/>
                </a:path>
              </a:pathLst>
            </a:custGeom>
            <a:blipFill>
              <a:blip r:embed="rId5"/>
              <a:stretch>
                <a:fillRect l="0" t="-39495" r="0" b="-39495"/>
              </a:stretch>
            </a:blipFill>
          </p:spPr>
        </p:sp>
      </p:grpSp>
      <p:grpSp>
        <p:nvGrpSpPr>
          <p:cNvPr name="Group 10" id="10"/>
          <p:cNvGrpSpPr/>
          <p:nvPr/>
        </p:nvGrpSpPr>
        <p:grpSpPr>
          <a:xfrm rot="0">
            <a:off x="801085" y="2067714"/>
            <a:ext cx="9963418" cy="639899"/>
            <a:chOff x="0" y="0"/>
            <a:chExt cx="13284557" cy="853199"/>
          </a:xfrm>
        </p:grpSpPr>
        <p:sp>
          <p:nvSpPr>
            <p:cNvPr name="Freeform 11" id="11"/>
            <p:cNvSpPr/>
            <p:nvPr/>
          </p:nvSpPr>
          <p:spPr>
            <a:xfrm flipH="false" flipV="false" rot="0">
              <a:off x="0" y="0"/>
              <a:ext cx="853199" cy="853199"/>
            </a:xfrm>
            <a:custGeom>
              <a:avLst/>
              <a:gdLst/>
              <a:ahLst/>
              <a:cxnLst/>
              <a:rect r="r" b="b" t="t" l="l"/>
              <a:pathLst>
                <a:path h="853199" w="853199">
                  <a:moveTo>
                    <a:pt x="0" y="0"/>
                  </a:moveTo>
                  <a:lnTo>
                    <a:pt x="853199" y="0"/>
                  </a:lnTo>
                  <a:lnTo>
                    <a:pt x="853199" y="853199"/>
                  </a:lnTo>
                  <a:lnTo>
                    <a:pt x="0" y="853199"/>
                  </a:lnTo>
                  <a:lnTo>
                    <a:pt x="0" y="0"/>
                  </a:lnTo>
                  <a:close/>
                </a:path>
              </a:pathLst>
            </a:custGeom>
            <a:blipFill>
              <a:blip r:embed="rId6"/>
              <a:stretch>
                <a:fillRect l="0" t="0" r="0" b="0"/>
              </a:stretch>
            </a:blipFill>
          </p:spPr>
        </p:sp>
        <p:sp>
          <p:nvSpPr>
            <p:cNvPr name="TextBox 12" id="12"/>
            <p:cNvSpPr txBox="true"/>
            <p:nvPr/>
          </p:nvSpPr>
          <p:spPr>
            <a:xfrm rot="0">
              <a:off x="1369795" y="20411"/>
              <a:ext cx="11914762" cy="726652"/>
            </a:xfrm>
            <a:prstGeom prst="rect">
              <a:avLst/>
            </a:prstGeom>
          </p:spPr>
          <p:txBody>
            <a:bodyPr anchor="t" rtlCol="false" tIns="0" lIns="0" bIns="0" rIns="0">
              <a:spAutoFit/>
            </a:bodyPr>
            <a:lstStyle/>
            <a:p>
              <a:pPr algn="l" marL="0" indent="0" lvl="0">
                <a:lnSpc>
                  <a:spcPts val="4479"/>
                </a:lnSpc>
                <a:spcBef>
                  <a:spcPct val="0"/>
                </a:spcBef>
              </a:pPr>
              <a:r>
                <a:rPr lang="en-US" sz="3199">
                  <a:solidFill>
                    <a:srgbClr val="000000"/>
                  </a:solidFill>
                  <a:latin typeface="Poppins"/>
                  <a:ea typeface="Poppins"/>
                  <a:cs typeface="Poppins"/>
                  <a:sym typeface="Poppins"/>
                </a:rPr>
                <a:t>Introduction to Langchain</a:t>
              </a:r>
            </a:p>
          </p:txBody>
        </p:sp>
      </p:grpSp>
      <p:grpSp>
        <p:nvGrpSpPr>
          <p:cNvPr name="Group 13" id="13"/>
          <p:cNvGrpSpPr/>
          <p:nvPr/>
        </p:nvGrpSpPr>
        <p:grpSpPr>
          <a:xfrm rot="0">
            <a:off x="820135" y="2957433"/>
            <a:ext cx="9963418" cy="639899"/>
            <a:chOff x="0" y="0"/>
            <a:chExt cx="13284557" cy="853199"/>
          </a:xfrm>
        </p:grpSpPr>
        <p:sp>
          <p:nvSpPr>
            <p:cNvPr name="Freeform 14" id="14"/>
            <p:cNvSpPr/>
            <p:nvPr/>
          </p:nvSpPr>
          <p:spPr>
            <a:xfrm flipH="false" flipV="false" rot="0">
              <a:off x="0" y="0"/>
              <a:ext cx="853199" cy="853199"/>
            </a:xfrm>
            <a:custGeom>
              <a:avLst/>
              <a:gdLst/>
              <a:ahLst/>
              <a:cxnLst/>
              <a:rect r="r" b="b" t="t" l="l"/>
              <a:pathLst>
                <a:path h="853199" w="853199">
                  <a:moveTo>
                    <a:pt x="0" y="0"/>
                  </a:moveTo>
                  <a:lnTo>
                    <a:pt x="853199" y="0"/>
                  </a:lnTo>
                  <a:lnTo>
                    <a:pt x="853199" y="853199"/>
                  </a:lnTo>
                  <a:lnTo>
                    <a:pt x="0" y="853199"/>
                  </a:lnTo>
                  <a:lnTo>
                    <a:pt x="0" y="0"/>
                  </a:lnTo>
                  <a:close/>
                </a:path>
              </a:pathLst>
            </a:custGeom>
            <a:blipFill>
              <a:blip r:embed="rId6"/>
              <a:stretch>
                <a:fillRect l="0" t="0" r="0" b="0"/>
              </a:stretch>
            </a:blipFill>
          </p:spPr>
        </p:sp>
        <p:sp>
          <p:nvSpPr>
            <p:cNvPr name="TextBox 15" id="15"/>
            <p:cNvSpPr txBox="true"/>
            <p:nvPr/>
          </p:nvSpPr>
          <p:spPr>
            <a:xfrm rot="0">
              <a:off x="1369795" y="20411"/>
              <a:ext cx="11914762" cy="726652"/>
            </a:xfrm>
            <a:prstGeom prst="rect">
              <a:avLst/>
            </a:prstGeom>
          </p:spPr>
          <p:txBody>
            <a:bodyPr anchor="t" rtlCol="false" tIns="0" lIns="0" bIns="0" rIns="0">
              <a:spAutoFit/>
            </a:bodyPr>
            <a:lstStyle/>
            <a:p>
              <a:pPr algn="l" marL="0" indent="0" lvl="0">
                <a:lnSpc>
                  <a:spcPts val="4479"/>
                </a:lnSpc>
                <a:spcBef>
                  <a:spcPct val="0"/>
                </a:spcBef>
              </a:pPr>
              <a:r>
                <a:rPr lang="en-US" sz="3199">
                  <a:solidFill>
                    <a:srgbClr val="000000"/>
                  </a:solidFill>
                  <a:latin typeface="Poppins"/>
                  <a:ea typeface="Poppins"/>
                  <a:cs typeface="Poppins"/>
                  <a:sym typeface="Poppins"/>
                </a:rPr>
                <a:t>Components of Langchain</a:t>
              </a:r>
            </a:p>
          </p:txBody>
        </p:sp>
      </p:grpSp>
      <p:grpSp>
        <p:nvGrpSpPr>
          <p:cNvPr name="Group 16" id="16"/>
          <p:cNvGrpSpPr/>
          <p:nvPr/>
        </p:nvGrpSpPr>
        <p:grpSpPr>
          <a:xfrm rot="0">
            <a:off x="801085" y="4806094"/>
            <a:ext cx="9963418" cy="639899"/>
            <a:chOff x="0" y="0"/>
            <a:chExt cx="13284557" cy="853199"/>
          </a:xfrm>
        </p:grpSpPr>
        <p:sp>
          <p:nvSpPr>
            <p:cNvPr name="Freeform 17" id="17"/>
            <p:cNvSpPr/>
            <p:nvPr/>
          </p:nvSpPr>
          <p:spPr>
            <a:xfrm flipH="false" flipV="false" rot="0">
              <a:off x="0" y="0"/>
              <a:ext cx="853199" cy="853199"/>
            </a:xfrm>
            <a:custGeom>
              <a:avLst/>
              <a:gdLst/>
              <a:ahLst/>
              <a:cxnLst/>
              <a:rect r="r" b="b" t="t" l="l"/>
              <a:pathLst>
                <a:path h="853199" w="853199">
                  <a:moveTo>
                    <a:pt x="0" y="0"/>
                  </a:moveTo>
                  <a:lnTo>
                    <a:pt x="853199" y="0"/>
                  </a:lnTo>
                  <a:lnTo>
                    <a:pt x="853199" y="853199"/>
                  </a:lnTo>
                  <a:lnTo>
                    <a:pt x="0" y="853199"/>
                  </a:lnTo>
                  <a:lnTo>
                    <a:pt x="0" y="0"/>
                  </a:lnTo>
                  <a:close/>
                </a:path>
              </a:pathLst>
            </a:custGeom>
            <a:blipFill>
              <a:blip r:embed="rId6"/>
              <a:stretch>
                <a:fillRect l="0" t="0" r="0" b="0"/>
              </a:stretch>
            </a:blipFill>
          </p:spPr>
        </p:sp>
        <p:sp>
          <p:nvSpPr>
            <p:cNvPr name="TextBox 18" id="18"/>
            <p:cNvSpPr txBox="true"/>
            <p:nvPr/>
          </p:nvSpPr>
          <p:spPr>
            <a:xfrm rot="0">
              <a:off x="1369795" y="20411"/>
              <a:ext cx="11914762" cy="726652"/>
            </a:xfrm>
            <a:prstGeom prst="rect">
              <a:avLst/>
            </a:prstGeom>
          </p:spPr>
          <p:txBody>
            <a:bodyPr anchor="t" rtlCol="false" tIns="0" lIns="0" bIns="0" rIns="0">
              <a:spAutoFit/>
            </a:bodyPr>
            <a:lstStyle/>
            <a:p>
              <a:pPr algn="l" marL="0" indent="0" lvl="0">
                <a:lnSpc>
                  <a:spcPts val="4479"/>
                </a:lnSpc>
                <a:spcBef>
                  <a:spcPct val="0"/>
                </a:spcBef>
              </a:pPr>
              <a:r>
                <a:rPr lang="en-US" sz="3199">
                  <a:solidFill>
                    <a:srgbClr val="000000"/>
                  </a:solidFill>
                  <a:latin typeface="Poppins"/>
                  <a:ea typeface="Poppins"/>
                  <a:cs typeface="Poppins"/>
                  <a:sym typeface="Poppins"/>
                </a:rPr>
                <a:t>Prompts</a:t>
              </a:r>
            </a:p>
          </p:txBody>
        </p:sp>
      </p:grpSp>
      <p:grpSp>
        <p:nvGrpSpPr>
          <p:cNvPr name="Group 19" id="19"/>
          <p:cNvGrpSpPr/>
          <p:nvPr/>
        </p:nvGrpSpPr>
        <p:grpSpPr>
          <a:xfrm rot="0">
            <a:off x="820135" y="7544768"/>
            <a:ext cx="9963418" cy="639899"/>
            <a:chOff x="0" y="0"/>
            <a:chExt cx="13284557" cy="853199"/>
          </a:xfrm>
        </p:grpSpPr>
        <p:sp>
          <p:nvSpPr>
            <p:cNvPr name="Freeform 20" id="20"/>
            <p:cNvSpPr/>
            <p:nvPr/>
          </p:nvSpPr>
          <p:spPr>
            <a:xfrm flipH="false" flipV="false" rot="0">
              <a:off x="0" y="0"/>
              <a:ext cx="853199" cy="853199"/>
            </a:xfrm>
            <a:custGeom>
              <a:avLst/>
              <a:gdLst/>
              <a:ahLst/>
              <a:cxnLst/>
              <a:rect r="r" b="b" t="t" l="l"/>
              <a:pathLst>
                <a:path h="853199" w="853199">
                  <a:moveTo>
                    <a:pt x="0" y="0"/>
                  </a:moveTo>
                  <a:lnTo>
                    <a:pt x="853199" y="0"/>
                  </a:lnTo>
                  <a:lnTo>
                    <a:pt x="853199" y="853199"/>
                  </a:lnTo>
                  <a:lnTo>
                    <a:pt x="0" y="853199"/>
                  </a:lnTo>
                  <a:lnTo>
                    <a:pt x="0" y="0"/>
                  </a:lnTo>
                  <a:close/>
                </a:path>
              </a:pathLst>
            </a:custGeom>
            <a:blipFill>
              <a:blip r:embed="rId6"/>
              <a:stretch>
                <a:fillRect l="0" t="0" r="0" b="0"/>
              </a:stretch>
            </a:blipFill>
          </p:spPr>
        </p:sp>
        <p:sp>
          <p:nvSpPr>
            <p:cNvPr name="TextBox 21" id="21"/>
            <p:cNvSpPr txBox="true"/>
            <p:nvPr/>
          </p:nvSpPr>
          <p:spPr>
            <a:xfrm rot="0">
              <a:off x="1369795" y="20411"/>
              <a:ext cx="11914762" cy="726652"/>
            </a:xfrm>
            <a:prstGeom prst="rect">
              <a:avLst/>
            </a:prstGeom>
          </p:spPr>
          <p:txBody>
            <a:bodyPr anchor="t" rtlCol="false" tIns="0" lIns="0" bIns="0" rIns="0">
              <a:spAutoFit/>
            </a:bodyPr>
            <a:lstStyle/>
            <a:p>
              <a:pPr algn="l" marL="0" indent="0" lvl="0">
                <a:lnSpc>
                  <a:spcPts val="4479"/>
                </a:lnSpc>
                <a:spcBef>
                  <a:spcPct val="0"/>
                </a:spcBef>
              </a:pPr>
              <a:r>
                <a:rPr lang="en-US" sz="3199">
                  <a:solidFill>
                    <a:srgbClr val="000000"/>
                  </a:solidFill>
                  <a:latin typeface="Poppins"/>
                  <a:ea typeface="Poppins"/>
                  <a:cs typeface="Poppins"/>
                  <a:sym typeface="Poppins"/>
                </a:rPr>
                <a:t>Chains in Langchain</a:t>
              </a:r>
            </a:p>
          </p:txBody>
        </p:sp>
      </p:grpSp>
      <p:grpSp>
        <p:nvGrpSpPr>
          <p:cNvPr name="Group 22" id="22"/>
          <p:cNvGrpSpPr/>
          <p:nvPr/>
        </p:nvGrpSpPr>
        <p:grpSpPr>
          <a:xfrm rot="0">
            <a:off x="820135" y="5762597"/>
            <a:ext cx="9963418" cy="639899"/>
            <a:chOff x="0" y="0"/>
            <a:chExt cx="13284557" cy="853199"/>
          </a:xfrm>
        </p:grpSpPr>
        <p:sp>
          <p:nvSpPr>
            <p:cNvPr name="Freeform 23" id="23"/>
            <p:cNvSpPr/>
            <p:nvPr/>
          </p:nvSpPr>
          <p:spPr>
            <a:xfrm flipH="false" flipV="false" rot="0">
              <a:off x="0" y="0"/>
              <a:ext cx="853199" cy="853199"/>
            </a:xfrm>
            <a:custGeom>
              <a:avLst/>
              <a:gdLst/>
              <a:ahLst/>
              <a:cxnLst/>
              <a:rect r="r" b="b" t="t" l="l"/>
              <a:pathLst>
                <a:path h="853199" w="853199">
                  <a:moveTo>
                    <a:pt x="0" y="0"/>
                  </a:moveTo>
                  <a:lnTo>
                    <a:pt x="853199" y="0"/>
                  </a:lnTo>
                  <a:lnTo>
                    <a:pt x="853199" y="853199"/>
                  </a:lnTo>
                  <a:lnTo>
                    <a:pt x="0" y="853199"/>
                  </a:lnTo>
                  <a:lnTo>
                    <a:pt x="0" y="0"/>
                  </a:lnTo>
                  <a:close/>
                </a:path>
              </a:pathLst>
            </a:custGeom>
            <a:blipFill>
              <a:blip r:embed="rId6"/>
              <a:stretch>
                <a:fillRect l="0" t="0" r="0" b="0"/>
              </a:stretch>
            </a:blipFill>
          </p:spPr>
        </p:sp>
        <p:sp>
          <p:nvSpPr>
            <p:cNvPr name="TextBox 24" id="24"/>
            <p:cNvSpPr txBox="true"/>
            <p:nvPr/>
          </p:nvSpPr>
          <p:spPr>
            <a:xfrm rot="0">
              <a:off x="1369795" y="20411"/>
              <a:ext cx="11914762" cy="726652"/>
            </a:xfrm>
            <a:prstGeom prst="rect">
              <a:avLst/>
            </a:prstGeom>
          </p:spPr>
          <p:txBody>
            <a:bodyPr anchor="t" rtlCol="false" tIns="0" lIns="0" bIns="0" rIns="0">
              <a:spAutoFit/>
            </a:bodyPr>
            <a:lstStyle/>
            <a:p>
              <a:pPr algn="l" marL="0" indent="0" lvl="0">
                <a:lnSpc>
                  <a:spcPts val="4479"/>
                </a:lnSpc>
                <a:spcBef>
                  <a:spcPct val="0"/>
                </a:spcBef>
              </a:pPr>
              <a:r>
                <a:rPr lang="en-US" sz="3199">
                  <a:solidFill>
                    <a:srgbClr val="000000"/>
                  </a:solidFill>
                  <a:latin typeface="Poppins"/>
                  <a:ea typeface="Poppins"/>
                  <a:cs typeface="Poppins"/>
                  <a:sym typeface="Poppins"/>
                </a:rPr>
                <a:t>Structured Output</a:t>
              </a:r>
            </a:p>
          </p:txBody>
        </p:sp>
      </p:grpSp>
      <p:grpSp>
        <p:nvGrpSpPr>
          <p:cNvPr name="Group 25" id="25"/>
          <p:cNvGrpSpPr/>
          <p:nvPr/>
        </p:nvGrpSpPr>
        <p:grpSpPr>
          <a:xfrm rot="0">
            <a:off x="801085" y="3892608"/>
            <a:ext cx="9963418" cy="639899"/>
            <a:chOff x="0" y="0"/>
            <a:chExt cx="13284557" cy="853199"/>
          </a:xfrm>
        </p:grpSpPr>
        <p:sp>
          <p:nvSpPr>
            <p:cNvPr name="Freeform 26" id="26"/>
            <p:cNvSpPr/>
            <p:nvPr/>
          </p:nvSpPr>
          <p:spPr>
            <a:xfrm flipH="false" flipV="false" rot="0">
              <a:off x="0" y="0"/>
              <a:ext cx="853199" cy="853199"/>
            </a:xfrm>
            <a:custGeom>
              <a:avLst/>
              <a:gdLst/>
              <a:ahLst/>
              <a:cxnLst/>
              <a:rect r="r" b="b" t="t" l="l"/>
              <a:pathLst>
                <a:path h="853199" w="853199">
                  <a:moveTo>
                    <a:pt x="0" y="0"/>
                  </a:moveTo>
                  <a:lnTo>
                    <a:pt x="853199" y="0"/>
                  </a:lnTo>
                  <a:lnTo>
                    <a:pt x="853199" y="853199"/>
                  </a:lnTo>
                  <a:lnTo>
                    <a:pt x="0" y="853199"/>
                  </a:lnTo>
                  <a:lnTo>
                    <a:pt x="0" y="0"/>
                  </a:lnTo>
                  <a:close/>
                </a:path>
              </a:pathLst>
            </a:custGeom>
            <a:blipFill>
              <a:blip r:embed="rId6"/>
              <a:stretch>
                <a:fillRect l="0" t="0" r="0" b="0"/>
              </a:stretch>
            </a:blipFill>
          </p:spPr>
        </p:sp>
        <p:sp>
          <p:nvSpPr>
            <p:cNvPr name="TextBox 27" id="27"/>
            <p:cNvSpPr txBox="true"/>
            <p:nvPr/>
          </p:nvSpPr>
          <p:spPr>
            <a:xfrm rot="0">
              <a:off x="1369795" y="20411"/>
              <a:ext cx="11914762" cy="726652"/>
            </a:xfrm>
            <a:prstGeom prst="rect">
              <a:avLst/>
            </a:prstGeom>
          </p:spPr>
          <p:txBody>
            <a:bodyPr anchor="t" rtlCol="false" tIns="0" lIns="0" bIns="0" rIns="0">
              <a:spAutoFit/>
            </a:bodyPr>
            <a:lstStyle/>
            <a:p>
              <a:pPr algn="l" marL="0" indent="0" lvl="0">
                <a:lnSpc>
                  <a:spcPts val="4479"/>
                </a:lnSpc>
                <a:spcBef>
                  <a:spcPct val="0"/>
                </a:spcBef>
              </a:pPr>
              <a:r>
                <a:rPr lang="en-US" sz="3199">
                  <a:solidFill>
                    <a:srgbClr val="000000"/>
                  </a:solidFill>
                  <a:latin typeface="Poppins"/>
                  <a:ea typeface="Poppins"/>
                  <a:cs typeface="Poppins"/>
                  <a:sym typeface="Poppins"/>
                </a:rPr>
                <a:t>Models</a:t>
              </a:r>
            </a:p>
          </p:txBody>
        </p:sp>
      </p:grpSp>
      <p:grpSp>
        <p:nvGrpSpPr>
          <p:cNvPr name="Group 28" id="28"/>
          <p:cNvGrpSpPr/>
          <p:nvPr/>
        </p:nvGrpSpPr>
        <p:grpSpPr>
          <a:xfrm rot="0">
            <a:off x="820135" y="8451368"/>
            <a:ext cx="9963418" cy="639899"/>
            <a:chOff x="0" y="0"/>
            <a:chExt cx="13284557" cy="853199"/>
          </a:xfrm>
        </p:grpSpPr>
        <p:sp>
          <p:nvSpPr>
            <p:cNvPr name="Freeform 29" id="29"/>
            <p:cNvSpPr/>
            <p:nvPr/>
          </p:nvSpPr>
          <p:spPr>
            <a:xfrm flipH="false" flipV="false" rot="0">
              <a:off x="0" y="0"/>
              <a:ext cx="853199" cy="853199"/>
            </a:xfrm>
            <a:custGeom>
              <a:avLst/>
              <a:gdLst/>
              <a:ahLst/>
              <a:cxnLst/>
              <a:rect r="r" b="b" t="t" l="l"/>
              <a:pathLst>
                <a:path h="853199" w="853199">
                  <a:moveTo>
                    <a:pt x="0" y="0"/>
                  </a:moveTo>
                  <a:lnTo>
                    <a:pt x="853199" y="0"/>
                  </a:lnTo>
                  <a:lnTo>
                    <a:pt x="853199" y="853199"/>
                  </a:lnTo>
                  <a:lnTo>
                    <a:pt x="0" y="853199"/>
                  </a:lnTo>
                  <a:lnTo>
                    <a:pt x="0" y="0"/>
                  </a:lnTo>
                  <a:close/>
                </a:path>
              </a:pathLst>
            </a:custGeom>
            <a:blipFill>
              <a:blip r:embed="rId6"/>
              <a:stretch>
                <a:fillRect l="0" t="0" r="0" b="0"/>
              </a:stretch>
            </a:blipFill>
          </p:spPr>
        </p:sp>
        <p:sp>
          <p:nvSpPr>
            <p:cNvPr name="TextBox 30" id="30"/>
            <p:cNvSpPr txBox="true"/>
            <p:nvPr/>
          </p:nvSpPr>
          <p:spPr>
            <a:xfrm rot="0">
              <a:off x="1369795" y="20411"/>
              <a:ext cx="11914762" cy="726652"/>
            </a:xfrm>
            <a:prstGeom prst="rect">
              <a:avLst/>
            </a:prstGeom>
          </p:spPr>
          <p:txBody>
            <a:bodyPr anchor="t" rtlCol="false" tIns="0" lIns="0" bIns="0" rIns="0">
              <a:spAutoFit/>
            </a:bodyPr>
            <a:lstStyle/>
            <a:p>
              <a:pPr algn="l" marL="0" indent="0" lvl="0">
                <a:lnSpc>
                  <a:spcPts val="4479"/>
                </a:lnSpc>
                <a:spcBef>
                  <a:spcPct val="0"/>
                </a:spcBef>
              </a:pPr>
              <a:r>
                <a:rPr lang="en-US" sz="3199">
                  <a:solidFill>
                    <a:srgbClr val="000000"/>
                  </a:solidFill>
                  <a:latin typeface="Poppins"/>
                  <a:ea typeface="Poppins"/>
                  <a:cs typeface="Poppins"/>
                  <a:sym typeface="Poppins"/>
                </a:rPr>
                <a:t>Runnables</a:t>
              </a:r>
            </a:p>
          </p:txBody>
        </p:sp>
      </p:grpSp>
      <p:grpSp>
        <p:nvGrpSpPr>
          <p:cNvPr name="Group 31" id="31"/>
          <p:cNvGrpSpPr/>
          <p:nvPr/>
        </p:nvGrpSpPr>
        <p:grpSpPr>
          <a:xfrm rot="0">
            <a:off x="820135" y="6657219"/>
            <a:ext cx="9963418" cy="639899"/>
            <a:chOff x="0" y="0"/>
            <a:chExt cx="13284557" cy="853199"/>
          </a:xfrm>
        </p:grpSpPr>
        <p:sp>
          <p:nvSpPr>
            <p:cNvPr name="Freeform 32" id="32"/>
            <p:cNvSpPr/>
            <p:nvPr/>
          </p:nvSpPr>
          <p:spPr>
            <a:xfrm flipH="false" flipV="false" rot="0">
              <a:off x="0" y="0"/>
              <a:ext cx="853199" cy="853199"/>
            </a:xfrm>
            <a:custGeom>
              <a:avLst/>
              <a:gdLst/>
              <a:ahLst/>
              <a:cxnLst/>
              <a:rect r="r" b="b" t="t" l="l"/>
              <a:pathLst>
                <a:path h="853199" w="853199">
                  <a:moveTo>
                    <a:pt x="0" y="0"/>
                  </a:moveTo>
                  <a:lnTo>
                    <a:pt x="853199" y="0"/>
                  </a:lnTo>
                  <a:lnTo>
                    <a:pt x="853199" y="853199"/>
                  </a:lnTo>
                  <a:lnTo>
                    <a:pt x="0" y="853199"/>
                  </a:lnTo>
                  <a:lnTo>
                    <a:pt x="0" y="0"/>
                  </a:lnTo>
                  <a:close/>
                </a:path>
              </a:pathLst>
            </a:custGeom>
            <a:blipFill>
              <a:blip r:embed="rId6"/>
              <a:stretch>
                <a:fillRect l="0" t="0" r="0" b="0"/>
              </a:stretch>
            </a:blipFill>
          </p:spPr>
        </p:sp>
        <p:sp>
          <p:nvSpPr>
            <p:cNvPr name="TextBox 33" id="33"/>
            <p:cNvSpPr txBox="true"/>
            <p:nvPr/>
          </p:nvSpPr>
          <p:spPr>
            <a:xfrm rot="0">
              <a:off x="1369795" y="20411"/>
              <a:ext cx="11914762" cy="726652"/>
            </a:xfrm>
            <a:prstGeom prst="rect">
              <a:avLst/>
            </a:prstGeom>
          </p:spPr>
          <p:txBody>
            <a:bodyPr anchor="t" rtlCol="false" tIns="0" lIns="0" bIns="0" rIns="0">
              <a:spAutoFit/>
            </a:bodyPr>
            <a:lstStyle/>
            <a:p>
              <a:pPr algn="l" marL="0" indent="0" lvl="0">
                <a:lnSpc>
                  <a:spcPts val="4479"/>
                </a:lnSpc>
                <a:spcBef>
                  <a:spcPct val="0"/>
                </a:spcBef>
              </a:pPr>
              <a:r>
                <a:rPr lang="en-US" sz="3199">
                  <a:solidFill>
                    <a:srgbClr val="000000"/>
                  </a:solidFill>
                  <a:latin typeface="Poppins"/>
                  <a:ea typeface="Poppins"/>
                  <a:cs typeface="Poppins"/>
                  <a:sym typeface="Poppins"/>
                </a:rPr>
                <a:t>Parsers</a:t>
              </a:r>
            </a:p>
          </p:txBody>
        </p:sp>
      </p:grpSp>
      <p:sp>
        <p:nvSpPr>
          <p:cNvPr name="TextBox 34" id="34"/>
          <p:cNvSpPr txBox="true"/>
          <p:nvPr/>
        </p:nvSpPr>
        <p:spPr>
          <a:xfrm rot="0">
            <a:off x="1256315" y="429414"/>
            <a:ext cx="9527238" cy="1304925"/>
          </a:xfrm>
          <a:prstGeom prst="rect">
            <a:avLst/>
          </a:prstGeom>
        </p:spPr>
        <p:txBody>
          <a:bodyPr anchor="t" rtlCol="false" tIns="0" lIns="0" bIns="0" rIns="0">
            <a:spAutoFit/>
          </a:bodyPr>
          <a:lstStyle/>
          <a:p>
            <a:pPr algn="l" marL="0" indent="0" lvl="0">
              <a:lnSpc>
                <a:spcPts val="9600"/>
              </a:lnSpc>
              <a:spcBef>
                <a:spcPct val="0"/>
              </a:spcBef>
            </a:pPr>
            <a:r>
              <a:rPr lang="en-US" b="true" sz="8000">
                <a:solidFill>
                  <a:srgbClr val="5492B1"/>
                </a:solidFill>
                <a:latin typeface="Poppins Bold"/>
                <a:ea typeface="Poppins Bold"/>
                <a:cs typeface="Poppins Bold"/>
                <a:sym typeface="Poppins Bold"/>
              </a:rPr>
              <a:t>Table of Contents</a:t>
            </a:r>
          </a:p>
        </p:txBody>
      </p:sp>
    </p:spTree>
  </p:cSld>
  <p:clrMapOvr>
    <a:masterClrMapping/>
  </p:clrMapOvr>
  <p:transition spd="slow">
    <p:cover dir="l"/>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223287" y="0"/>
            <a:ext cx="7064713" cy="10287000"/>
            <a:chOff x="0" y="0"/>
            <a:chExt cx="1860665" cy="2709333"/>
          </a:xfrm>
        </p:grpSpPr>
        <p:sp>
          <p:nvSpPr>
            <p:cNvPr name="Freeform 3" id="3"/>
            <p:cNvSpPr/>
            <p:nvPr/>
          </p:nvSpPr>
          <p:spPr>
            <a:xfrm flipH="false" flipV="false" rot="0">
              <a:off x="0" y="0"/>
              <a:ext cx="1860665" cy="2709333"/>
            </a:xfrm>
            <a:custGeom>
              <a:avLst/>
              <a:gdLst/>
              <a:ahLst/>
              <a:cxnLst/>
              <a:rect r="r" b="b" t="t" l="l"/>
              <a:pathLst>
                <a:path h="2709333" w="1860665">
                  <a:moveTo>
                    <a:pt x="0" y="0"/>
                  </a:moveTo>
                  <a:lnTo>
                    <a:pt x="1860665" y="0"/>
                  </a:lnTo>
                  <a:lnTo>
                    <a:pt x="1860665" y="2709333"/>
                  </a:lnTo>
                  <a:lnTo>
                    <a:pt x="0" y="2709333"/>
                  </a:lnTo>
                  <a:close/>
                </a:path>
              </a:pathLst>
            </a:custGeom>
            <a:solidFill>
              <a:srgbClr val="59B1C6"/>
            </a:solidFill>
          </p:spPr>
        </p:sp>
        <p:sp>
          <p:nvSpPr>
            <p:cNvPr name="TextBox 4" id="4"/>
            <p:cNvSpPr txBox="true"/>
            <p:nvPr/>
          </p:nvSpPr>
          <p:spPr>
            <a:xfrm>
              <a:off x="0" y="-66675"/>
              <a:ext cx="1860665" cy="2776008"/>
            </a:xfrm>
            <a:prstGeom prst="rect">
              <a:avLst/>
            </a:prstGeom>
          </p:spPr>
          <p:txBody>
            <a:bodyPr anchor="ctr" rtlCol="false" tIns="50800" lIns="50800" bIns="50800" rIns="50800"/>
            <a:lstStyle/>
            <a:p>
              <a:pPr algn="ctr">
                <a:lnSpc>
                  <a:spcPts val="2914"/>
                </a:lnSpc>
              </a:pPr>
            </a:p>
          </p:txBody>
        </p:sp>
      </p:grpSp>
      <p:sp>
        <p:nvSpPr>
          <p:cNvPr name="Freeform 5" id="5"/>
          <p:cNvSpPr/>
          <p:nvPr/>
        </p:nvSpPr>
        <p:spPr>
          <a:xfrm flipH="false" flipV="false" rot="0">
            <a:off x="11858586" y="3320644"/>
            <a:ext cx="5794115" cy="3862743"/>
          </a:xfrm>
          <a:custGeom>
            <a:avLst/>
            <a:gdLst/>
            <a:ahLst/>
            <a:cxnLst/>
            <a:rect r="r" b="b" t="t" l="l"/>
            <a:pathLst>
              <a:path h="3862743" w="5794115">
                <a:moveTo>
                  <a:pt x="0" y="0"/>
                </a:moveTo>
                <a:lnTo>
                  <a:pt x="5794115" y="0"/>
                </a:lnTo>
                <a:lnTo>
                  <a:pt x="5794115" y="3862743"/>
                </a:lnTo>
                <a:lnTo>
                  <a:pt x="0" y="3862743"/>
                </a:lnTo>
                <a:lnTo>
                  <a:pt x="0" y="0"/>
                </a:lnTo>
                <a:close/>
              </a:path>
            </a:pathLst>
          </a:custGeom>
          <a:blipFill>
            <a:blip r:embed="rId2"/>
            <a:stretch>
              <a:fillRect l="0" t="0" r="0" b="0"/>
            </a:stretch>
          </a:blipFill>
        </p:spPr>
      </p:sp>
      <p:sp>
        <p:nvSpPr>
          <p:cNvPr name="TextBox 6" id="6"/>
          <p:cNvSpPr txBox="true"/>
          <p:nvPr/>
        </p:nvSpPr>
        <p:spPr>
          <a:xfrm rot="0">
            <a:off x="1028700" y="1423424"/>
            <a:ext cx="7091256" cy="878680"/>
          </a:xfrm>
          <a:prstGeom prst="rect">
            <a:avLst/>
          </a:prstGeom>
        </p:spPr>
        <p:txBody>
          <a:bodyPr anchor="t" rtlCol="false" tIns="0" lIns="0" bIns="0" rIns="0">
            <a:spAutoFit/>
          </a:bodyPr>
          <a:lstStyle/>
          <a:p>
            <a:pPr algn="l" marL="0" indent="0" lvl="0">
              <a:lnSpc>
                <a:spcPts val="6477"/>
              </a:lnSpc>
              <a:spcBef>
                <a:spcPct val="0"/>
              </a:spcBef>
            </a:pPr>
            <a:r>
              <a:rPr lang="en-US" b="true" sz="5397">
                <a:solidFill>
                  <a:srgbClr val="5492B1"/>
                </a:solidFill>
                <a:latin typeface="Poppins Semi-Bold"/>
                <a:ea typeface="Poppins Semi-Bold"/>
                <a:cs typeface="Poppins Semi-Bold"/>
                <a:sym typeface="Poppins Semi-Bold"/>
              </a:rPr>
              <a:t>What is Langchain ?</a:t>
            </a:r>
          </a:p>
        </p:txBody>
      </p:sp>
      <p:sp>
        <p:nvSpPr>
          <p:cNvPr name="TextBox 7" id="7"/>
          <p:cNvSpPr txBox="true"/>
          <p:nvPr/>
        </p:nvSpPr>
        <p:spPr>
          <a:xfrm rot="0">
            <a:off x="1028700" y="2692629"/>
            <a:ext cx="8936071" cy="1198880"/>
          </a:xfrm>
          <a:prstGeom prst="rect">
            <a:avLst/>
          </a:prstGeom>
        </p:spPr>
        <p:txBody>
          <a:bodyPr anchor="t" rtlCol="false" tIns="0" lIns="0" bIns="0" rIns="0">
            <a:spAutoFit/>
          </a:bodyPr>
          <a:lstStyle/>
          <a:p>
            <a:pPr algn="l" marL="0" indent="0" lvl="0">
              <a:lnSpc>
                <a:spcPts val="3220"/>
              </a:lnSpc>
              <a:spcBef>
                <a:spcPct val="0"/>
              </a:spcBef>
            </a:pPr>
            <a:r>
              <a:rPr lang="en-US" sz="2300">
                <a:solidFill>
                  <a:srgbClr val="000000"/>
                </a:solidFill>
                <a:latin typeface="Poppins"/>
                <a:ea typeface="Poppins"/>
                <a:cs typeface="Poppins"/>
                <a:sym typeface="Poppins"/>
              </a:rPr>
              <a:t>A framework used for building LLM based applications, provides end to end tools that help developers build complex AI applications.</a:t>
            </a:r>
          </a:p>
        </p:txBody>
      </p:sp>
      <p:sp>
        <p:nvSpPr>
          <p:cNvPr name="TextBox 8" id="8"/>
          <p:cNvSpPr txBox="true"/>
          <p:nvPr/>
        </p:nvSpPr>
        <p:spPr>
          <a:xfrm rot="0">
            <a:off x="1028700" y="4301084"/>
            <a:ext cx="9875486" cy="609600"/>
          </a:xfrm>
          <a:prstGeom prst="rect">
            <a:avLst/>
          </a:prstGeom>
        </p:spPr>
        <p:txBody>
          <a:bodyPr anchor="t" rtlCol="false" tIns="0" lIns="0" bIns="0" rIns="0">
            <a:spAutoFit/>
          </a:bodyPr>
          <a:lstStyle/>
          <a:p>
            <a:pPr algn="l" marL="0" indent="0" lvl="0">
              <a:lnSpc>
                <a:spcPts val="4520"/>
              </a:lnSpc>
              <a:spcBef>
                <a:spcPct val="0"/>
              </a:spcBef>
            </a:pPr>
            <a:r>
              <a:rPr lang="en-US" b="true" sz="3767">
                <a:solidFill>
                  <a:srgbClr val="5492B1"/>
                </a:solidFill>
                <a:latin typeface="Poppins Semi-Bold"/>
                <a:ea typeface="Poppins Semi-Bold"/>
                <a:cs typeface="Poppins Semi-Bold"/>
                <a:sym typeface="Poppins Semi-Bold"/>
              </a:rPr>
              <a:t>Why Langchain over other Frameworks ? </a:t>
            </a:r>
          </a:p>
        </p:txBody>
      </p:sp>
      <p:sp>
        <p:nvSpPr>
          <p:cNvPr name="TextBox 9" id="9"/>
          <p:cNvSpPr txBox="true"/>
          <p:nvPr/>
        </p:nvSpPr>
        <p:spPr>
          <a:xfrm rot="0">
            <a:off x="1028700" y="5194865"/>
            <a:ext cx="8539772" cy="4399223"/>
          </a:xfrm>
          <a:prstGeom prst="rect">
            <a:avLst/>
          </a:prstGeom>
        </p:spPr>
        <p:txBody>
          <a:bodyPr anchor="t" rtlCol="false" tIns="0" lIns="0" bIns="0" rIns="0">
            <a:spAutoFit/>
          </a:bodyPr>
          <a:lstStyle/>
          <a:p>
            <a:pPr algn="l" marL="497055" indent="-248527" lvl="1">
              <a:lnSpc>
                <a:spcPts val="3223"/>
              </a:lnSpc>
              <a:buFont typeface="Arial"/>
              <a:buChar char="•"/>
            </a:pPr>
            <a:r>
              <a:rPr lang="en-US" sz="2302">
                <a:solidFill>
                  <a:srgbClr val="000000"/>
                </a:solidFill>
                <a:latin typeface="Poppins"/>
                <a:ea typeface="Poppins"/>
                <a:cs typeface="Poppins"/>
                <a:sym typeface="Poppins"/>
              </a:rPr>
              <a:t>Langchain provides ready-made components(chains , memory , retrievers), don’t need to build everything from scratch.</a:t>
            </a:r>
          </a:p>
          <a:p>
            <a:pPr algn="l">
              <a:lnSpc>
                <a:spcPts val="3223"/>
              </a:lnSpc>
            </a:pPr>
          </a:p>
          <a:p>
            <a:pPr algn="l" marL="497055" indent="-248527" lvl="1">
              <a:lnSpc>
                <a:spcPts val="3223"/>
              </a:lnSpc>
              <a:buFont typeface="Arial"/>
              <a:buChar char="•"/>
            </a:pPr>
            <a:r>
              <a:rPr lang="en-US" sz="2302">
                <a:solidFill>
                  <a:srgbClr val="000000"/>
                </a:solidFill>
                <a:latin typeface="Poppins"/>
                <a:ea typeface="Poppins"/>
                <a:cs typeface="Poppins"/>
                <a:sym typeface="Poppins"/>
              </a:rPr>
              <a:t>Langchain connects seamlessly with API’s, vector stores, and models, making real world AI applications easier to build.</a:t>
            </a:r>
          </a:p>
          <a:p>
            <a:pPr algn="l">
              <a:lnSpc>
                <a:spcPts val="3223"/>
              </a:lnSpc>
            </a:pPr>
          </a:p>
          <a:p>
            <a:pPr algn="l" marL="497055" indent="-248527" lvl="1">
              <a:lnSpc>
                <a:spcPts val="3223"/>
              </a:lnSpc>
              <a:buFont typeface="Arial"/>
              <a:buChar char="•"/>
            </a:pPr>
            <a:r>
              <a:rPr lang="en-US" sz="2302">
                <a:solidFill>
                  <a:srgbClr val="000000"/>
                </a:solidFill>
                <a:latin typeface="Poppins"/>
                <a:ea typeface="Poppins"/>
                <a:cs typeface="Poppins"/>
                <a:sym typeface="Poppins"/>
              </a:rPr>
              <a:t>Compared to other frameworks, Langchain enables multi-step logic(chains,agents,RAG), allowing you to create scalable and structured AI systems.</a:t>
            </a:r>
          </a:p>
        </p:txBody>
      </p:sp>
    </p:spTree>
  </p:cSld>
  <p:clrMapOvr>
    <a:masterClrMapping/>
  </p:clrMapOvr>
  <p:transition spd="slow">
    <p:cover dir="l"/>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5492B1"/>
        </a:solidFill>
      </p:bgPr>
    </p:bg>
    <p:spTree>
      <p:nvGrpSpPr>
        <p:cNvPr id="1" name=""/>
        <p:cNvGrpSpPr/>
        <p:nvPr/>
      </p:nvGrpSpPr>
      <p:grpSpPr>
        <a:xfrm>
          <a:off x="0" y="0"/>
          <a:ext cx="0" cy="0"/>
          <a:chOff x="0" y="0"/>
          <a:chExt cx="0" cy="0"/>
        </a:xfrm>
      </p:grpSpPr>
      <p:sp>
        <p:nvSpPr>
          <p:cNvPr name="Freeform 2" id="2"/>
          <p:cNvSpPr/>
          <p:nvPr/>
        </p:nvSpPr>
        <p:spPr>
          <a:xfrm flipH="false" flipV="false" rot="0">
            <a:off x="9964041" y="-437745"/>
            <a:ext cx="10403246" cy="3650594"/>
          </a:xfrm>
          <a:custGeom>
            <a:avLst/>
            <a:gdLst/>
            <a:ahLst/>
            <a:cxnLst/>
            <a:rect r="r" b="b" t="t" l="l"/>
            <a:pathLst>
              <a:path h="3650594" w="10403246">
                <a:moveTo>
                  <a:pt x="0" y="0"/>
                </a:moveTo>
                <a:lnTo>
                  <a:pt x="10403246" y="0"/>
                </a:lnTo>
                <a:lnTo>
                  <a:pt x="10403246" y="3650594"/>
                </a:lnTo>
                <a:lnTo>
                  <a:pt x="0" y="36505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089762" y="1273552"/>
            <a:ext cx="12567832" cy="7739895"/>
          </a:xfrm>
          <a:custGeom>
            <a:avLst/>
            <a:gdLst/>
            <a:ahLst/>
            <a:cxnLst/>
            <a:rect r="r" b="b" t="t" l="l"/>
            <a:pathLst>
              <a:path h="7739895" w="12567832">
                <a:moveTo>
                  <a:pt x="0" y="0"/>
                </a:moveTo>
                <a:lnTo>
                  <a:pt x="12567832" y="0"/>
                </a:lnTo>
                <a:lnTo>
                  <a:pt x="12567832" y="7739896"/>
                </a:lnTo>
                <a:lnTo>
                  <a:pt x="0" y="7739896"/>
                </a:lnTo>
                <a:lnTo>
                  <a:pt x="0" y="0"/>
                </a:lnTo>
                <a:close/>
              </a:path>
            </a:pathLst>
          </a:custGeom>
          <a:blipFill>
            <a:blip r:embed="rId4"/>
            <a:stretch>
              <a:fillRect l="-3721" t="0" r="-3721" b="-16236"/>
            </a:stretch>
          </a:blipFill>
        </p:spPr>
      </p:sp>
    </p:spTree>
  </p:cSld>
  <p:clrMapOvr>
    <a:masterClrMapping/>
  </p:clrMapOvr>
  <p:transition spd="slow">
    <p:cover dir="l"/>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7064713" cy="10287000"/>
            <a:chOff x="0" y="0"/>
            <a:chExt cx="1860665" cy="2709333"/>
          </a:xfrm>
        </p:grpSpPr>
        <p:sp>
          <p:nvSpPr>
            <p:cNvPr name="Freeform 3" id="3"/>
            <p:cNvSpPr/>
            <p:nvPr/>
          </p:nvSpPr>
          <p:spPr>
            <a:xfrm flipH="false" flipV="false" rot="0">
              <a:off x="0" y="0"/>
              <a:ext cx="1860665" cy="2709333"/>
            </a:xfrm>
            <a:custGeom>
              <a:avLst/>
              <a:gdLst/>
              <a:ahLst/>
              <a:cxnLst/>
              <a:rect r="r" b="b" t="t" l="l"/>
              <a:pathLst>
                <a:path h="2709333" w="1860665">
                  <a:moveTo>
                    <a:pt x="0" y="0"/>
                  </a:moveTo>
                  <a:lnTo>
                    <a:pt x="1860665" y="0"/>
                  </a:lnTo>
                  <a:lnTo>
                    <a:pt x="1860665" y="2709333"/>
                  </a:lnTo>
                  <a:lnTo>
                    <a:pt x="0" y="2709333"/>
                  </a:lnTo>
                  <a:close/>
                </a:path>
              </a:pathLst>
            </a:custGeom>
            <a:solidFill>
              <a:srgbClr val="59B1C6"/>
            </a:solidFill>
          </p:spPr>
        </p:sp>
        <p:sp>
          <p:nvSpPr>
            <p:cNvPr name="TextBox 4" id="4"/>
            <p:cNvSpPr txBox="true"/>
            <p:nvPr/>
          </p:nvSpPr>
          <p:spPr>
            <a:xfrm>
              <a:off x="0" y="-66675"/>
              <a:ext cx="1860665" cy="2776008"/>
            </a:xfrm>
            <a:prstGeom prst="rect">
              <a:avLst/>
            </a:prstGeom>
          </p:spPr>
          <p:txBody>
            <a:bodyPr anchor="ctr" rtlCol="false" tIns="50800" lIns="50800" bIns="50800" rIns="50800"/>
            <a:lstStyle/>
            <a:p>
              <a:pPr algn="ctr">
                <a:lnSpc>
                  <a:spcPts val="2914"/>
                </a:lnSpc>
              </a:pPr>
            </a:p>
          </p:txBody>
        </p:sp>
      </p:grpSp>
      <p:sp>
        <p:nvSpPr>
          <p:cNvPr name="Freeform 5" id="5"/>
          <p:cNvSpPr/>
          <p:nvPr/>
        </p:nvSpPr>
        <p:spPr>
          <a:xfrm flipH="false" flipV="false" rot="0">
            <a:off x="1028700" y="1028700"/>
            <a:ext cx="4839347" cy="3226231"/>
          </a:xfrm>
          <a:custGeom>
            <a:avLst/>
            <a:gdLst/>
            <a:ahLst/>
            <a:cxnLst/>
            <a:rect r="r" b="b" t="t" l="l"/>
            <a:pathLst>
              <a:path h="3226231" w="4839347">
                <a:moveTo>
                  <a:pt x="0" y="0"/>
                </a:moveTo>
                <a:lnTo>
                  <a:pt x="4839347" y="0"/>
                </a:lnTo>
                <a:lnTo>
                  <a:pt x="4839347" y="3226231"/>
                </a:lnTo>
                <a:lnTo>
                  <a:pt x="0" y="3226231"/>
                </a:lnTo>
                <a:lnTo>
                  <a:pt x="0" y="0"/>
                </a:lnTo>
                <a:close/>
              </a:path>
            </a:pathLst>
          </a:custGeom>
          <a:blipFill>
            <a:blip r:embed="rId2"/>
            <a:stretch>
              <a:fillRect l="0" t="0" r="0" b="0"/>
            </a:stretch>
          </a:blipFill>
        </p:spPr>
      </p:sp>
      <p:sp>
        <p:nvSpPr>
          <p:cNvPr name="Freeform 6" id="6"/>
          <p:cNvSpPr/>
          <p:nvPr/>
        </p:nvSpPr>
        <p:spPr>
          <a:xfrm flipH="false" flipV="false" rot="0">
            <a:off x="879669" y="5665210"/>
            <a:ext cx="4988378" cy="3325585"/>
          </a:xfrm>
          <a:custGeom>
            <a:avLst/>
            <a:gdLst/>
            <a:ahLst/>
            <a:cxnLst/>
            <a:rect r="r" b="b" t="t" l="l"/>
            <a:pathLst>
              <a:path h="3325585" w="4988378">
                <a:moveTo>
                  <a:pt x="0" y="0"/>
                </a:moveTo>
                <a:lnTo>
                  <a:pt x="4988378" y="0"/>
                </a:lnTo>
                <a:lnTo>
                  <a:pt x="4988378" y="3325585"/>
                </a:lnTo>
                <a:lnTo>
                  <a:pt x="0" y="3325585"/>
                </a:lnTo>
                <a:lnTo>
                  <a:pt x="0" y="0"/>
                </a:lnTo>
                <a:close/>
              </a:path>
            </a:pathLst>
          </a:custGeom>
          <a:blipFill>
            <a:blip r:embed="rId3"/>
            <a:stretch>
              <a:fillRect l="0" t="0" r="0" b="0"/>
            </a:stretch>
          </a:blipFill>
        </p:spPr>
      </p:sp>
      <p:sp>
        <p:nvSpPr>
          <p:cNvPr name="TextBox 7" id="7"/>
          <p:cNvSpPr txBox="true"/>
          <p:nvPr/>
        </p:nvSpPr>
        <p:spPr>
          <a:xfrm rot="0">
            <a:off x="6155541" y="942975"/>
            <a:ext cx="12044270" cy="1485900"/>
          </a:xfrm>
          <a:prstGeom prst="rect">
            <a:avLst/>
          </a:prstGeom>
        </p:spPr>
        <p:txBody>
          <a:bodyPr anchor="t" rtlCol="false" tIns="0" lIns="0" bIns="0" rIns="0">
            <a:spAutoFit/>
          </a:bodyPr>
          <a:lstStyle/>
          <a:p>
            <a:pPr algn="just" marL="0" indent="0" lvl="0">
              <a:lnSpc>
                <a:spcPts val="11040"/>
              </a:lnSpc>
              <a:spcBef>
                <a:spcPct val="0"/>
              </a:spcBef>
            </a:pPr>
            <a:r>
              <a:rPr lang="en-US" b="true" sz="9200">
                <a:solidFill>
                  <a:srgbClr val="5492B1"/>
                </a:solidFill>
                <a:latin typeface="Poppins Semi-Bold"/>
                <a:ea typeface="Poppins Semi-Bold"/>
                <a:cs typeface="Poppins Semi-Bold"/>
                <a:sym typeface="Poppins Semi-Bold"/>
              </a:rPr>
              <a:t>              Models</a:t>
            </a:r>
          </a:p>
        </p:txBody>
      </p:sp>
      <p:sp>
        <p:nvSpPr>
          <p:cNvPr name="TextBox 8" id="8"/>
          <p:cNvSpPr txBox="true"/>
          <p:nvPr/>
        </p:nvSpPr>
        <p:spPr>
          <a:xfrm rot="0">
            <a:off x="7631831" y="2584666"/>
            <a:ext cx="10139801" cy="3199130"/>
          </a:xfrm>
          <a:prstGeom prst="rect">
            <a:avLst/>
          </a:prstGeom>
        </p:spPr>
        <p:txBody>
          <a:bodyPr anchor="t" rtlCol="false" tIns="0" lIns="0" bIns="0" rIns="0">
            <a:spAutoFit/>
          </a:bodyPr>
          <a:lstStyle/>
          <a:p>
            <a:pPr algn="just">
              <a:lnSpc>
                <a:spcPts val="3220"/>
              </a:lnSpc>
            </a:pPr>
            <a:r>
              <a:rPr lang="en-US" sz="2300">
                <a:solidFill>
                  <a:srgbClr val="000000"/>
                </a:solidFill>
                <a:latin typeface="Poppins"/>
                <a:ea typeface="Poppins"/>
                <a:cs typeface="Poppins"/>
                <a:sym typeface="Poppins"/>
              </a:rPr>
              <a:t>Models are the core components that generate outputs like text, embeddings, or responses by interacting with language models. They act as the brain of the application, taking input prompts and producing outputs like answers, summaries, or embeddings.</a:t>
            </a:r>
          </a:p>
          <a:p>
            <a:pPr algn="just">
              <a:lnSpc>
                <a:spcPts val="3220"/>
              </a:lnSpc>
            </a:pPr>
          </a:p>
          <a:p>
            <a:pPr algn="just">
              <a:lnSpc>
                <a:spcPts val="3220"/>
              </a:lnSpc>
            </a:pPr>
            <a:r>
              <a:rPr lang="en-US" sz="2300">
                <a:solidFill>
                  <a:srgbClr val="000000"/>
                </a:solidFill>
                <a:latin typeface="Poppins"/>
                <a:ea typeface="Poppins"/>
                <a:cs typeface="Poppins"/>
                <a:sym typeface="Poppins"/>
              </a:rPr>
              <a:t>Models handle natural language understanding and generation and can be integrated from different providers(Open AI, Hugging Face..) for flexible AI development.</a:t>
            </a:r>
          </a:p>
        </p:txBody>
      </p:sp>
      <p:sp>
        <p:nvSpPr>
          <p:cNvPr name="TextBox 9" id="9"/>
          <p:cNvSpPr txBox="true"/>
          <p:nvPr/>
        </p:nvSpPr>
        <p:spPr>
          <a:xfrm rot="0">
            <a:off x="7631831" y="6281143"/>
            <a:ext cx="6530403" cy="733425"/>
          </a:xfrm>
          <a:prstGeom prst="rect">
            <a:avLst/>
          </a:prstGeom>
        </p:spPr>
        <p:txBody>
          <a:bodyPr anchor="t" rtlCol="false" tIns="0" lIns="0" bIns="0" rIns="0">
            <a:spAutoFit/>
          </a:bodyPr>
          <a:lstStyle/>
          <a:p>
            <a:pPr algn="l" marL="0" indent="0" lvl="0">
              <a:lnSpc>
                <a:spcPts val="5520"/>
              </a:lnSpc>
              <a:spcBef>
                <a:spcPct val="0"/>
              </a:spcBef>
            </a:pPr>
            <a:r>
              <a:rPr lang="en-US" sz="4600">
                <a:solidFill>
                  <a:srgbClr val="5492B1"/>
                </a:solidFill>
                <a:latin typeface="Poppins"/>
                <a:ea typeface="Poppins"/>
                <a:cs typeface="Poppins"/>
                <a:sym typeface="Poppins"/>
              </a:rPr>
              <a:t>Types of models:</a:t>
            </a:r>
          </a:p>
        </p:txBody>
      </p:sp>
      <p:sp>
        <p:nvSpPr>
          <p:cNvPr name="TextBox 10" id="10"/>
          <p:cNvSpPr txBox="true"/>
          <p:nvPr/>
        </p:nvSpPr>
        <p:spPr>
          <a:xfrm rot="0">
            <a:off x="7631831" y="7376518"/>
            <a:ext cx="4975622" cy="1198880"/>
          </a:xfrm>
          <a:prstGeom prst="rect">
            <a:avLst/>
          </a:prstGeom>
        </p:spPr>
        <p:txBody>
          <a:bodyPr anchor="t" rtlCol="false" tIns="0" lIns="0" bIns="0" rIns="0">
            <a:spAutoFit/>
          </a:bodyPr>
          <a:lstStyle/>
          <a:p>
            <a:pPr algn="l" marL="496571" indent="-248285" lvl="1">
              <a:lnSpc>
                <a:spcPts val="3220"/>
              </a:lnSpc>
              <a:buFont typeface="Arial"/>
              <a:buChar char="•"/>
            </a:pPr>
            <a:r>
              <a:rPr lang="en-US" sz="2300">
                <a:solidFill>
                  <a:srgbClr val="000000"/>
                </a:solidFill>
                <a:latin typeface="Poppins"/>
                <a:ea typeface="Poppins"/>
                <a:cs typeface="Poppins"/>
                <a:sym typeface="Poppins"/>
              </a:rPr>
              <a:t>LLMs (Large Language Models)</a:t>
            </a:r>
          </a:p>
          <a:p>
            <a:pPr algn="l" marL="496571" indent="-248285" lvl="1">
              <a:lnSpc>
                <a:spcPts val="3220"/>
              </a:lnSpc>
              <a:buFont typeface="Arial"/>
              <a:buChar char="•"/>
            </a:pPr>
            <a:r>
              <a:rPr lang="en-US" sz="2300">
                <a:solidFill>
                  <a:srgbClr val="000000"/>
                </a:solidFill>
                <a:latin typeface="Poppins"/>
                <a:ea typeface="Poppins"/>
                <a:cs typeface="Poppins"/>
                <a:sym typeface="Poppins"/>
              </a:rPr>
              <a:t>Chat Models</a:t>
            </a:r>
          </a:p>
          <a:p>
            <a:pPr algn="l" marL="496571" indent="-248285" lvl="1">
              <a:lnSpc>
                <a:spcPts val="3220"/>
              </a:lnSpc>
              <a:buFont typeface="Arial"/>
              <a:buChar char="•"/>
            </a:pPr>
            <a:r>
              <a:rPr lang="en-US" sz="2300">
                <a:solidFill>
                  <a:srgbClr val="000000"/>
                </a:solidFill>
                <a:latin typeface="Poppins"/>
                <a:ea typeface="Poppins"/>
                <a:cs typeface="Poppins"/>
                <a:sym typeface="Poppins"/>
              </a:rPr>
              <a:t>Embedding models </a:t>
            </a:r>
          </a:p>
        </p:txBody>
      </p:sp>
    </p:spTree>
  </p:cSld>
  <p:clrMapOvr>
    <a:masterClrMapping/>
  </p:clrMapOvr>
  <p:transition spd="slow">
    <p:cover dir="l"/>
  </p:transition>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5966203" y="0"/>
            <a:ext cx="2321797" cy="10287000"/>
            <a:chOff x="0" y="0"/>
            <a:chExt cx="611502" cy="2709333"/>
          </a:xfrm>
        </p:grpSpPr>
        <p:sp>
          <p:nvSpPr>
            <p:cNvPr name="Freeform 3" id="3"/>
            <p:cNvSpPr/>
            <p:nvPr/>
          </p:nvSpPr>
          <p:spPr>
            <a:xfrm flipH="false" flipV="false" rot="0">
              <a:off x="0" y="0"/>
              <a:ext cx="611502" cy="2709333"/>
            </a:xfrm>
            <a:custGeom>
              <a:avLst/>
              <a:gdLst/>
              <a:ahLst/>
              <a:cxnLst/>
              <a:rect r="r" b="b" t="t" l="l"/>
              <a:pathLst>
                <a:path h="2709333" w="611502">
                  <a:moveTo>
                    <a:pt x="0" y="0"/>
                  </a:moveTo>
                  <a:lnTo>
                    <a:pt x="611502" y="0"/>
                  </a:lnTo>
                  <a:lnTo>
                    <a:pt x="611502" y="2709333"/>
                  </a:lnTo>
                  <a:lnTo>
                    <a:pt x="0" y="2709333"/>
                  </a:lnTo>
                  <a:close/>
                </a:path>
              </a:pathLst>
            </a:custGeom>
            <a:solidFill>
              <a:srgbClr val="59B1C6"/>
            </a:solidFill>
          </p:spPr>
        </p:sp>
        <p:sp>
          <p:nvSpPr>
            <p:cNvPr name="TextBox 4" id="4"/>
            <p:cNvSpPr txBox="true"/>
            <p:nvPr/>
          </p:nvSpPr>
          <p:spPr>
            <a:xfrm>
              <a:off x="0" y="-66675"/>
              <a:ext cx="611502" cy="2776008"/>
            </a:xfrm>
            <a:prstGeom prst="rect">
              <a:avLst/>
            </a:prstGeom>
          </p:spPr>
          <p:txBody>
            <a:bodyPr anchor="ctr" rtlCol="false" tIns="50800" lIns="50800" bIns="50800" rIns="50800"/>
            <a:lstStyle/>
            <a:p>
              <a:pPr algn="ctr">
                <a:lnSpc>
                  <a:spcPts val="2914"/>
                </a:lnSpc>
              </a:pPr>
            </a:p>
          </p:txBody>
        </p:sp>
      </p:grpSp>
      <p:sp>
        <p:nvSpPr>
          <p:cNvPr name="TextBox 5" id="5"/>
          <p:cNvSpPr txBox="true"/>
          <p:nvPr/>
        </p:nvSpPr>
        <p:spPr>
          <a:xfrm rot="0">
            <a:off x="450816" y="1621298"/>
            <a:ext cx="4502496" cy="704850"/>
          </a:xfrm>
          <a:prstGeom prst="rect">
            <a:avLst/>
          </a:prstGeom>
        </p:spPr>
        <p:txBody>
          <a:bodyPr anchor="t" rtlCol="false" tIns="0" lIns="0" bIns="0" rIns="0">
            <a:spAutoFit/>
          </a:bodyPr>
          <a:lstStyle/>
          <a:p>
            <a:pPr algn="ctr" marL="0" indent="0" lvl="0">
              <a:lnSpc>
                <a:spcPts val="5280"/>
              </a:lnSpc>
              <a:spcBef>
                <a:spcPct val="0"/>
              </a:spcBef>
            </a:pPr>
            <a:r>
              <a:rPr lang="en-US" b="true" sz="4400">
                <a:solidFill>
                  <a:srgbClr val="5492B1"/>
                </a:solidFill>
                <a:latin typeface="Poppins Semi-Bold"/>
                <a:ea typeface="Poppins Semi-Bold"/>
                <a:cs typeface="Poppins Semi-Bold"/>
                <a:sym typeface="Poppins Semi-Bold"/>
              </a:rPr>
              <a:t>Chat Models</a:t>
            </a:r>
          </a:p>
        </p:txBody>
      </p:sp>
      <p:sp>
        <p:nvSpPr>
          <p:cNvPr name="TextBox 6" id="6"/>
          <p:cNvSpPr txBox="true"/>
          <p:nvPr/>
        </p:nvSpPr>
        <p:spPr>
          <a:xfrm rot="0">
            <a:off x="450816" y="2869555"/>
            <a:ext cx="5026370" cy="6711776"/>
          </a:xfrm>
          <a:prstGeom prst="rect">
            <a:avLst/>
          </a:prstGeom>
        </p:spPr>
        <p:txBody>
          <a:bodyPr anchor="t" rtlCol="false" tIns="0" lIns="0" bIns="0" rIns="0">
            <a:spAutoFit/>
          </a:bodyPr>
          <a:lstStyle/>
          <a:p>
            <a:pPr algn="l" marL="514241" indent="-257121" lvl="1">
              <a:lnSpc>
                <a:spcPts val="3334"/>
              </a:lnSpc>
              <a:buFont typeface="Arial"/>
              <a:buChar char="•"/>
            </a:pPr>
            <a:r>
              <a:rPr lang="en-US" sz="2381">
                <a:solidFill>
                  <a:srgbClr val="000000"/>
                </a:solidFill>
                <a:latin typeface="Poppins"/>
                <a:ea typeface="Poppins"/>
                <a:cs typeface="Poppins"/>
                <a:sym typeface="Poppins"/>
              </a:rPr>
              <a:t>Designed for conversational interactions using messages.</a:t>
            </a:r>
          </a:p>
          <a:p>
            <a:pPr algn="l">
              <a:lnSpc>
                <a:spcPts val="3334"/>
              </a:lnSpc>
            </a:pPr>
          </a:p>
          <a:p>
            <a:pPr algn="l" marL="514241" indent="-257121" lvl="1">
              <a:lnSpc>
                <a:spcPts val="3334"/>
              </a:lnSpc>
              <a:buFont typeface="Arial"/>
              <a:buChar char="•"/>
            </a:pPr>
            <a:r>
              <a:rPr lang="en-US" sz="2381">
                <a:solidFill>
                  <a:srgbClr val="000000"/>
                </a:solidFill>
                <a:latin typeface="Poppins"/>
                <a:ea typeface="Poppins"/>
                <a:cs typeface="Poppins"/>
                <a:sym typeface="Poppins"/>
              </a:rPr>
              <a:t>Maintain context across multiple turns in a conversation. </a:t>
            </a:r>
          </a:p>
          <a:p>
            <a:pPr algn="l">
              <a:lnSpc>
                <a:spcPts val="3334"/>
              </a:lnSpc>
            </a:pPr>
          </a:p>
          <a:p>
            <a:pPr algn="l" marL="514241" indent="-257121" lvl="1">
              <a:lnSpc>
                <a:spcPts val="3334"/>
              </a:lnSpc>
              <a:buFont typeface="Arial"/>
              <a:buChar char="•"/>
            </a:pPr>
            <a:r>
              <a:rPr lang="en-US" sz="2381">
                <a:solidFill>
                  <a:srgbClr val="000000"/>
                </a:solidFill>
                <a:latin typeface="Poppins"/>
                <a:ea typeface="Poppins"/>
                <a:cs typeface="Poppins"/>
                <a:sym typeface="Poppins"/>
              </a:rPr>
              <a:t>Accept message based input(user, system, roles).</a:t>
            </a:r>
          </a:p>
          <a:p>
            <a:pPr algn="l">
              <a:lnSpc>
                <a:spcPts val="3334"/>
              </a:lnSpc>
            </a:pPr>
          </a:p>
          <a:p>
            <a:pPr algn="l" marL="514241" indent="-257121" lvl="1">
              <a:lnSpc>
                <a:spcPts val="3334"/>
              </a:lnSpc>
              <a:buFont typeface="Arial"/>
              <a:buChar char="•"/>
            </a:pPr>
            <a:r>
              <a:rPr lang="en-US" sz="2381">
                <a:solidFill>
                  <a:srgbClr val="000000"/>
                </a:solidFill>
                <a:latin typeface="Poppins"/>
                <a:ea typeface="Poppins"/>
                <a:cs typeface="Poppins"/>
                <a:sym typeface="Poppins"/>
              </a:rPr>
              <a:t>Generate dialogue style responses.</a:t>
            </a:r>
          </a:p>
          <a:p>
            <a:pPr algn="l">
              <a:lnSpc>
                <a:spcPts val="3334"/>
              </a:lnSpc>
            </a:pPr>
          </a:p>
          <a:p>
            <a:pPr algn="l" marL="514241" indent="-257121" lvl="1">
              <a:lnSpc>
                <a:spcPts val="3334"/>
              </a:lnSpc>
              <a:buFont typeface="Arial"/>
              <a:buChar char="•"/>
            </a:pPr>
            <a:r>
              <a:rPr lang="en-US" sz="2381">
                <a:solidFill>
                  <a:srgbClr val="000000"/>
                </a:solidFill>
                <a:latin typeface="Poppins"/>
                <a:ea typeface="Poppins"/>
                <a:cs typeface="Poppins"/>
                <a:sym typeface="Poppins"/>
              </a:rPr>
              <a:t>Used in applications like Virtual assistants and Q&amp;A systems.</a:t>
            </a:r>
          </a:p>
        </p:txBody>
      </p:sp>
      <p:sp>
        <p:nvSpPr>
          <p:cNvPr name="TextBox 7" id="7"/>
          <p:cNvSpPr txBox="true"/>
          <p:nvPr/>
        </p:nvSpPr>
        <p:spPr>
          <a:xfrm rot="0">
            <a:off x="5849851" y="2890233"/>
            <a:ext cx="3953285" cy="6721348"/>
          </a:xfrm>
          <a:prstGeom prst="rect">
            <a:avLst/>
          </a:prstGeom>
        </p:spPr>
        <p:txBody>
          <a:bodyPr anchor="t" rtlCol="false" tIns="0" lIns="0" bIns="0" rIns="0">
            <a:spAutoFit/>
          </a:bodyPr>
          <a:lstStyle/>
          <a:p>
            <a:pPr algn="l" marL="513843" indent="-256922" lvl="1">
              <a:lnSpc>
                <a:spcPts val="3332"/>
              </a:lnSpc>
              <a:buFont typeface="Arial"/>
              <a:buChar char="•"/>
            </a:pPr>
            <a:r>
              <a:rPr lang="en-US" sz="2380">
                <a:solidFill>
                  <a:srgbClr val="000000"/>
                </a:solidFill>
                <a:latin typeface="Poppins"/>
                <a:ea typeface="Poppins"/>
                <a:cs typeface="Poppins"/>
                <a:sym typeface="Poppins"/>
              </a:rPr>
              <a:t>Convert text into numerical vectors.</a:t>
            </a:r>
          </a:p>
          <a:p>
            <a:pPr algn="l">
              <a:lnSpc>
                <a:spcPts val="3332"/>
              </a:lnSpc>
            </a:pPr>
          </a:p>
          <a:p>
            <a:pPr algn="l" marL="513843" indent="-256922" lvl="1">
              <a:lnSpc>
                <a:spcPts val="3332"/>
              </a:lnSpc>
              <a:buFont typeface="Arial"/>
              <a:buChar char="•"/>
            </a:pPr>
            <a:r>
              <a:rPr lang="en-US" sz="2380">
                <a:solidFill>
                  <a:srgbClr val="000000"/>
                </a:solidFill>
                <a:latin typeface="Poppins"/>
                <a:ea typeface="Poppins"/>
                <a:cs typeface="Poppins"/>
                <a:sym typeface="Poppins"/>
              </a:rPr>
              <a:t>Used for similarity search and semantic understanding.</a:t>
            </a:r>
          </a:p>
          <a:p>
            <a:pPr algn="l">
              <a:lnSpc>
                <a:spcPts val="3332"/>
              </a:lnSpc>
            </a:pPr>
          </a:p>
          <a:p>
            <a:pPr algn="l" marL="513843" indent="-256922" lvl="1">
              <a:lnSpc>
                <a:spcPts val="3332"/>
              </a:lnSpc>
              <a:buFont typeface="Arial"/>
              <a:buChar char="•"/>
            </a:pPr>
            <a:r>
              <a:rPr lang="en-US" sz="2380">
                <a:solidFill>
                  <a:srgbClr val="000000"/>
                </a:solidFill>
                <a:latin typeface="Poppins"/>
                <a:ea typeface="Poppins"/>
                <a:cs typeface="Poppins"/>
                <a:sym typeface="Poppins"/>
              </a:rPr>
              <a:t>Help in retrieval tasks(RAG).</a:t>
            </a:r>
          </a:p>
          <a:p>
            <a:pPr algn="l">
              <a:lnSpc>
                <a:spcPts val="3332"/>
              </a:lnSpc>
            </a:pPr>
          </a:p>
          <a:p>
            <a:pPr algn="l" marL="513843" indent="-256922" lvl="1">
              <a:lnSpc>
                <a:spcPts val="3332"/>
              </a:lnSpc>
              <a:buFont typeface="Arial"/>
              <a:buChar char="•"/>
            </a:pPr>
            <a:r>
              <a:rPr lang="en-US" sz="2380">
                <a:solidFill>
                  <a:srgbClr val="000000"/>
                </a:solidFill>
                <a:latin typeface="Poppins"/>
                <a:ea typeface="Poppins"/>
                <a:cs typeface="Poppins"/>
                <a:sym typeface="Poppins"/>
              </a:rPr>
              <a:t>Enable clustering and recommendation.</a:t>
            </a:r>
          </a:p>
          <a:p>
            <a:pPr algn="l">
              <a:lnSpc>
                <a:spcPts val="3332"/>
              </a:lnSpc>
            </a:pPr>
          </a:p>
          <a:p>
            <a:pPr algn="l" marL="513843" indent="-256922" lvl="1">
              <a:lnSpc>
                <a:spcPts val="3332"/>
              </a:lnSpc>
              <a:buFont typeface="Arial"/>
              <a:buChar char="•"/>
            </a:pPr>
            <a:r>
              <a:rPr lang="en-US" sz="2380">
                <a:solidFill>
                  <a:srgbClr val="000000"/>
                </a:solidFill>
                <a:latin typeface="Poppins"/>
                <a:ea typeface="Poppins"/>
                <a:cs typeface="Poppins"/>
                <a:sym typeface="Poppins"/>
              </a:rPr>
              <a:t>Work with vector databases for fast lookup.</a:t>
            </a:r>
          </a:p>
        </p:txBody>
      </p:sp>
      <p:sp>
        <p:nvSpPr>
          <p:cNvPr name="TextBox 8" id="8"/>
          <p:cNvSpPr txBox="true"/>
          <p:nvPr/>
        </p:nvSpPr>
        <p:spPr>
          <a:xfrm rot="0">
            <a:off x="5633656" y="1561520"/>
            <a:ext cx="4370890" cy="1371600"/>
          </a:xfrm>
          <a:prstGeom prst="rect">
            <a:avLst/>
          </a:prstGeom>
        </p:spPr>
        <p:txBody>
          <a:bodyPr anchor="t" rtlCol="false" tIns="0" lIns="0" bIns="0" rIns="0">
            <a:spAutoFit/>
          </a:bodyPr>
          <a:lstStyle/>
          <a:p>
            <a:pPr algn="ctr" marL="0" indent="0" lvl="0">
              <a:lnSpc>
                <a:spcPts val="5280"/>
              </a:lnSpc>
              <a:spcBef>
                <a:spcPct val="0"/>
              </a:spcBef>
            </a:pPr>
            <a:r>
              <a:rPr lang="en-US" b="true" sz="4400">
                <a:solidFill>
                  <a:srgbClr val="5492B1"/>
                </a:solidFill>
                <a:latin typeface="Poppins Semi-Bold"/>
                <a:ea typeface="Poppins Semi-Bold"/>
                <a:cs typeface="Poppins Semi-Bold"/>
                <a:sym typeface="Poppins Semi-Bold"/>
              </a:rPr>
              <a:t>Embedding Models</a:t>
            </a:r>
          </a:p>
        </p:txBody>
      </p:sp>
      <p:sp>
        <p:nvSpPr>
          <p:cNvPr name="AutoShape 9" id="9"/>
          <p:cNvSpPr/>
          <p:nvPr/>
        </p:nvSpPr>
        <p:spPr>
          <a:xfrm flipH="true">
            <a:off x="5477186" y="1897380"/>
            <a:ext cx="19050" cy="8062552"/>
          </a:xfrm>
          <a:prstGeom prst="line">
            <a:avLst/>
          </a:prstGeom>
          <a:ln cap="flat" w="38100">
            <a:solidFill>
              <a:srgbClr val="59B1C6"/>
            </a:solidFill>
            <a:prstDash val="solid"/>
            <a:headEnd type="none" len="sm" w="sm"/>
            <a:tailEnd type="none" len="sm" w="sm"/>
          </a:ln>
        </p:spPr>
      </p:sp>
      <p:sp>
        <p:nvSpPr>
          <p:cNvPr name="AutoShape 10" id="10"/>
          <p:cNvSpPr/>
          <p:nvPr/>
        </p:nvSpPr>
        <p:spPr>
          <a:xfrm>
            <a:off x="10589641" y="1659398"/>
            <a:ext cx="0" cy="8300535"/>
          </a:xfrm>
          <a:prstGeom prst="line">
            <a:avLst/>
          </a:prstGeom>
          <a:ln cap="flat" w="38100">
            <a:solidFill>
              <a:srgbClr val="59B1C6"/>
            </a:solidFill>
            <a:prstDash val="solid"/>
            <a:headEnd type="none" len="sm" w="sm"/>
            <a:tailEnd type="none" len="sm" w="sm"/>
          </a:ln>
        </p:spPr>
      </p:sp>
      <p:sp>
        <p:nvSpPr>
          <p:cNvPr name="TextBox 11" id="11"/>
          <p:cNvSpPr txBox="true"/>
          <p:nvPr/>
        </p:nvSpPr>
        <p:spPr>
          <a:xfrm rot="0">
            <a:off x="11098340" y="2856920"/>
            <a:ext cx="4614260" cy="6721348"/>
          </a:xfrm>
          <a:prstGeom prst="rect">
            <a:avLst/>
          </a:prstGeom>
        </p:spPr>
        <p:txBody>
          <a:bodyPr anchor="t" rtlCol="false" tIns="0" lIns="0" bIns="0" rIns="0">
            <a:spAutoFit/>
          </a:bodyPr>
          <a:lstStyle/>
          <a:p>
            <a:pPr algn="l" marL="513843" indent="-256922" lvl="1">
              <a:lnSpc>
                <a:spcPts val="3332"/>
              </a:lnSpc>
              <a:buFont typeface="Arial"/>
              <a:buChar char="•"/>
            </a:pPr>
            <a:r>
              <a:rPr lang="en-US" sz="2380">
                <a:solidFill>
                  <a:srgbClr val="000000"/>
                </a:solidFill>
                <a:latin typeface="Poppins"/>
                <a:ea typeface="Poppins"/>
                <a:cs typeface="Poppins"/>
                <a:sym typeface="Poppins"/>
              </a:rPr>
              <a:t>Work on plain text input and output.</a:t>
            </a:r>
          </a:p>
          <a:p>
            <a:pPr algn="l">
              <a:lnSpc>
                <a:spcPts val="3332"/>
              </a:lnSpc>
            </a:pPr>
          </a:p>
          <a:p>
            <a:pPr algn="l" marL="513843" indent="-256922" lvl="1">
              <a:lnSpc>
                <a:spcPts val="3332"/>
              </a:lnSpc>
              <a:buFont typeface="Arial"/>
              <a:buChar char="•"/>
            </a:pPr>
            <a:r>
              <a:rPr lang="en-US" sz="2380">
                <a:solidFill>
                  <a:srgbClr val="000000"/>
                </a:solidFill>
                <a:latin typeface="Poppins"/>
                <a:ea typeface="Poppins"/>
                <a:cs typeface="Poppins"/>
                <a:sym typeface="Poppins"/>
              </a:rPr>
              <a:t>Best for tasks like text generation, summarization and completion.</a:t>
            </a:r>
          </a:p>
          <a:p>
            <a:pPr algn="l">
              <a:lnSpc>
                <a:spcPts val="3332"/>
              </a:lnSpc>
            </a:pPr>
          </a:p>
          <a:p>
            <a:pPr algn="l" marL="513843" indent="-256922" lvl="1">
              <a:lnSpc>
                <a:spcPts val="3332"/>
              </a:lnSpc>
              <a:buFont typeface="Arial"/>
              <a:buChar char="•"/>
            </a:pPr>
            <a:r>
              <a:rPr lang="en-US" sz="2380">
                <a:solidFill>
                  <a:srgbClr val="000000"/>
                </a:solidFill>
                <a:latin typeface="Poppins"/>
                <a:ea typeface="Poppins"/>
                <a:cs typeface="Poppins"/>
                <a:sym typeface="Poppins"/>
              </a:rPr>
              <a:t>Produce content aware outputs based on input sequence.</a:t>
            </a:r>
          </a:p>
          <a:p>
            <a:pPr algn="l">
              <a:lnSpc>
                <a:spcPts val="3332"/>
              </a:lnSpc>
            </a:pPr>
          </a:p>
          <a:p>
            <a:pPr algn="l" marL="513843" indent="-256922" lvl="1">
              <a:lnSpc>
                <a:spcPts val="3332"/>
              </a:lnSpc>
              <a:buFont typeface="Arial"/>
              <a:buChar char="•"/>
            </a:pPr>
            <a:r>
              <a:rPr lang="en-US" sz="2380">
                <a:solidFill>
                  <a:srgbClr val="000000"/>
                </a:solidFill>
                <a:latin typeface="Poppins"/>
                <a:ea typeface="Poppins"/>
                <a:cs typeface="Poppins"/>
                <a:sym typeface="Poppins"/>
              </a:rPr>
              <a:t>Trained on large scale datasets.</a:t>
            </a:r>
          </a:p>
          <a:p>
            <a:pPr algn="l">
              <a:lnSpc>
                <a:spcPts val="3332"/>
              </a:lnSpc>
            </a:pPr>
          </a:p>
          <a:p>
            <a:pPr algn="l" marL="513843" indent="-256922" lvl="1">
              <a:lnSpc>
                <a:spcPts val="3332"/>
              </a:lnSpc>
              <a:buFont typeface="Arial"/>
              <a:buChar char="•"/>
            </a:pPr>
            <a:r>
              <a:rPr lang="en-US" sz="2380">
                <a:solidFill>
                  <a:srgbClr val="000000"/>
                </a:solidFill>
                <a:latin typeface="Poppins"/>
                <a:ea typeface="Poppins"/>
                <a:cs typeface="Poppins"/>
                <a:sym typeface="Poppins"/>
              </a:rPr>
              <a:t>Support multiple languages.</a:t>
            </a:r>
          </a:p>
        </p:txBody>
      </p:sp>
      <p:sp>
        <p:nvSpPr>
          <p:cNvPr name="TextBox 12" id="12"/>
          <p:cNvSpPr txBox="true"/>
          <p:nvPr/>
        </p:nvSpPr>
        <p:spPr>
          <a:xfrm rot="0">
            <a:off x="10767445" y="1594833"/>
            <a:ext cx="4819544" cy="1371600"/>
          </a:xfrm>
          <a:prstGeom prst="rect">
            <a:avLst/>
          </a:prstGeom>
        </p:spPr>
        <p:txBody>
          <a:bodyPr anchor="t" rtlCol="false" tIns="0" lIns="0" bIns="0" rIns="0">
            <a:spAutoFit/>
          </a:bodyPr>
          <a:lstStyle/>
          <a:p>
            <a:pPr algn="ctr" marL="0" indent="0" lvl="0">
              <a:lnSpc>
                <a:spcPts val="5280"/>
              </a:lnSpc>
              <a:spcBef>
                <a:spcPct val="0"/>
              </a:spcBef>
            </a:pPr>
            <a:r>
              <a:rPr lang="en-US" b="true" sz="4400">
                <a:solidFill>
                  <a:srgbClr val="5492B1"/>
                </a:solidFill>
                <a:latin typeface="Poppins Semi-Bold"/>
                <a:ea typeface="Poppins Semi-Bold"/>
                <a:cs typeface="Poppins Semi-Bold"/>
                <a:sym typeface="Poppins Semi-Bold"/>
              </a:rPr>
              <a:t>Language Models</a:t>
            </a:r>
          </a:p>
        </p:txBody>
      </p:sp>
    </p:spTree>
  </p:cSld>
  <p:clrMapOvr>
    <a:masterClrMapping/>
  </p:clrMapOvr>
  <p:transition spd="slow">
    <p:cover dir="l"/>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400847" y="942975"/>
            <a:ext cx="6504156" cy="1485900"/>
          </a:xfrm>
          <a:prstGeom prst="rect">
            <a:avLst/>
          </a:prstGeom>
        </p:spPr>
        <p:txBody>
          <a:bodyPr anchor="t" rtlCol="false" tIns="0" lIns="0" bIns="0" rIns="0">
            <a:spAutoFit/>
          </a:bodyPr>
          <a:lstStyle/>
          <a:p>
            <a:pPr algn="just" marL="0" indent="0" lvl="0">
              <a:lnSpc>
                <a:spcPts val="11040"/>
              </a:lnSpc>
              <a:spcBef>
                <a:spcPct val="0"/>
              </a:spcBef>
            </a:pPr>
            <a:r>
              <a:rPr lang="en-US" b="true" sz="9200">
                <a:solidFill>
                  <a:srgbClr val="5492B1"/>
                </a:solidFill>
                <a:latin typeface="Poppins Semi-Bold"/>
                <a:ea typeface="Poppins Semi-Bold"/>
                <a:cs typeface="Poppins Semi-Bold"/>
                <a:sym typeface="Poppins Semi-Bold"/>
              </a:rPr>
              <a:t>Prompts</a:t>
            </a:r>
          </a:p>
        </p:txBody>
      </p:sp>
      <p:sp>
        <p:nvSpPr>
          <p:cNvPr name="TextBox 3" id="3"/>
          <p:cNvSpPr txBox="true"/>
          <p:nvPr/>
        </p:nvSpPr>
        <p:spPr>
          <a:xfrm rot="0">
            <a:off x="8400847" y="5781902"/>
            <a:ext cx="8858453" cy="2809066"/>
          </a:xfrm>
          <a:prstGeom prst="rect">
            <a:avLst/>
          </a:prstGeom>
        </p:spPr>
        <p:txBody>
          <a:bodyPr anchor="t" rtlCol="false" tIns="0" lIns="0" bIns="0" rIns="0">
            <a:spAutoFit/>
          </a:bodyPr>
          <a:lstStyle/>
          <a:p>
            <a:pPr algn="just">
              <a:lnSpc>
                <a:spcPts val="3194"/>
              </a:lnSpc>
            </a:pPr>
            <a:r>
              <a:rPr lang="en-US" sz="2281">
                <a:solidFill>
                  <a:srgbClr val="000000"/>
                </a:solidFill>
                <a:latin typeface="Poppins"/>
                <a:ea typeface="Poppins"/>
                <a:cs typeface="Poppins"/>
                <a:sym typeface="Poppins"/>
              </a:rPr>
              <a:t>Predefined structured prompts with placeholders. Allow dynamic input w</a:t>
            </a:r>
            <a:r>
              <a:rPr lang="en-US" sz="2281">
                <a:solidFill>
                  <a:srgbClr val="000000"/>
                </a:solidFill>
                <a:latin typeface="Poppins"/>
                <a:ea typeface="Poppins"/>
                <a:cs typeface="Poppins"/>
                <a:sym typeface="Poppins"/>
              </a:rPr>
              <a:t>ith certain benefits:</a:t>
            </a:r>
          </a:p>
          <a:p>
            <a:pPr algn="just" marL="492652" indent="-246326" lvl="1">
              <a:lnSpc>
                <a:spcPts val="3194"/>
              </a:lnSpc>
              <a:buFont typeface="Arial"/>
              <a:buChar char="•"/>
            </a:pPr>
            <a:r>
              <a:rPr lang="en-US" sz="2281">
                <a:solidFill>
                  <a:srgbClr val="000000"/>
                </a:solidFill>
                <a:latin typeface="Poppins"/>
                <a:ea typeface="Poppins"/>
                <a:cs typeface="Poppins"/>
                <a:sym typeface="Poppins"/>
              </a:rPr>
              <a:t>By default validation</a:t>
            </a:r>
          </a:p>
          <a:p>
            <a:pPr algn="just" marL="492652" indent="-246326" lvl="1">
              <a:lnSpc>
                <a:spcPts val="3194"/>
              </a:lnSpc>
              <a:buFont typeface="Arial"/>
              <a:buChar char="•"/>
            </a:pPr>
            <a:r>
              <a:rPr lang="en-US" sz="2281">
                <a:solidFill>
                  <a:srgbClr val="000000"/>
                </a:solidFill>
                <a:latin typeface="Poppins"/>
                <a:ea typeface="Poppins"/>
                <a:cs typeface="Poppins"/>
                <a:sym typeface="Poppins"/>
              </a:rPr>
              <a:t>Reusability</a:t>
            </a:r>
          </a:p>
          <a:p>
            <a:pPr algn="just" marL="492652" indent="-246326" lvl="1">
              <a:lnSpc>
                <a:spcPts val="3194"/>
              </a:lnSpc>
              <a:buFont typeface="Arial"/>
              <a:buChar char="•"/>
            </a:pPr>
            <a:r>
              <a:rPr lang="en-US" sz="2281">
                <a:solidFill>
                  <a:srgbClr val="000000"/>
                </a:solidFill>
                <a:latin typeface="Poppins"/>
                <a:ea typeface="Poppins"/>
                <a:cs typeface="Poppins"/>
                <a:sym typeface="Poppins"/>
              </a:rPr>
              <a:t>Maintainability</a:t>
            </a:r>
          </a:p>
          <a:p>
            <a:pPr algn="just">
              <a:lnSpc>
                <a:spcPts val="3194"/>
              </a:lnSpc>
            </a:pPr>
          </a:p>
          <a:p>
            <a:pPr algn="just">
              <a:lnSpc>
                <a:spcPts val="3194"/>
              </a:lnSpc>
            </a:pPr>
            <a:r>
              <a:rPr lang="en-US" sz="2281">
                <a:solidFill>
                  <a:srgbClr val="000000"/>
                </a:solidFill>
                <a:latin typeface="Poppins"/>
                <a:ea typeface="Poppins"/>
                <a:cs typeface="Poppins"/>
                <a:sym typeface="Poppins"/>
              </a:rPr>
              <a:t>Example: "Summarize the following text in {tone} tone: {text}”</a:t>
            </a:r>
          </a:p>
        </p:txBody>
      </p:sp>
      <p:sp>
        <p:nvSpPr>
          <p:cNvPr name="Freeform 4" id="4"/>
          <p:cNvSpPr/>
          <p:nvPr/>
        </p:nvSpPr>
        <p:spPr>
          <a:xfrm flipH="false" flipV="false" rot="0">
            <a:off x="14744955" y="7419797"/>
            <a:ext cx="3552570" cy="4266187"/>
          </a:xfrm>
          <a:custGeom>
            <a:avLst/>
            <a:gdLst/>
            <a:ahLst/>
            <a:cxnLst/>
            <a:rect r="r" b="b" t="t" l="l"/>
            <a:pathLst>
              <a:path h="4266187" w="3552570">
                <a:moveTo>
                  <a:pt x="0" y="0"/>
                </a:moveTo>
                <a:lnTo>
                  <a:pt x="3552570" y="0"/>
                </a:lnTo>
                <a:lnTo>
                  <a:pt x="3552570" y="4266187"/>
                </a:lnTo>
                <a:lnTo>
                  <a:pt x="0" y="42661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5400000">
            <a:off x="-3376326" y="3376326"/>
            <a:ext cx="10403246" cy="3650594"/>
          </a:xfrm>
          <a:custGeom>
            <a:avLst/>
            <a:gdLst/>
            <a:ahLst/>
            <a:cxnLst/>
            <a:rect r="r" b="b" t="t" l="l"/>
            <a:pathLst>
              <a:path h="3650594" w="10403246">
                <a:moveTo>
                  <a:pt x="0" y="3650594"/>
                </a:moveTo>
                <a:lnTo>
                  <a:pt x="10403246" y="3650594"/>
                </a:lnTo>
                <a:lnTo>
                  <a:pt x="10403246" y="0"/>
                </a:lnTo>
                <a:lnTo>
                  <a:pt x="0" y="0"/>
                </a:lnTo>
                <a:lnTo>
                  <a:pt x="0" y="3650594"/>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3859245" y="1032704"/>
            <a:ext cx="3469480" cy="3316314"/>
            <a:chOff x="0" y="0"/>
            <a:chExt cx="596446" cy="570115"/>
          </a:xfrm>
        </p:grpSpPr>
        <p:sp>
          <p:nvSpPr>
            <p:cNvPr name="Freeform 7" id="7"/>
            <p:cNvSpPr/>
            <p:nvPr/>
          </p:nvSpPr>
          <p:spPr>
            <a:xfrm flipH="false" flipV="false" rot="0">
              <a:off x="0" y="0"/>
              <a:ext cx="596446" cy="570115"/>
            </a:xfrm>
            <a:custGeom>
              <a:avLst/>
              <a:gdLst/>
              <a:ahLst/>
              <a:cxnLst/>
              <a:rect r="r" b="b" t="t" l="l"/>
              <a:pathLst>
                <a:path h="570115" w="596446">
                  <a:moveTo>
                    <a:pt x="51323" y="0"/>
                  </a:moveTo>
                  <a:lnTo>
                    <a:pt x="545123" y="0"/>
                  </a:lnTo>
                  <a:cubicBezTo>
                    <a:pt x="573468" y="0"/>
                    <a:pt x="596446" y="22978"/>
                    <a:pt x="596446" y="51323"/>
                  </a:cubicBezTo>
                  <a:lnTo>
                    <a:pt x="596446" y="518792"/>
                  </a:lnTo>
                  <a:cubicBezTo>
                    <a:pt x="596446" y="532403"/>
                    <a:pt x="591039" y="545458"/>
                    <a:pt x="581414" y="555083"/>
                  </a:cubicBezTo>
                  <a:cubicBezTo>
                    <a:pt x="571789" y="564708"/>
                    <a:pt x="558735" y="570115"/>
                    <a:pt x="545123" y="570115"/>
                  </a:cubicBezTo>
                  <a:lnTo>
                    <a:pt x="51323" y="570115"/>
                  </a:lnTo>
                  <a:cubicBezTo>
                    <a:pt x="37711" y="570115"/>
                    <a:pt x="24657" y="564708"/>
                    <a:pt x="15032" y="555083"/>
                  </a:cubicBezTo>
                  <a:cubicBezTo>
                    <a:pt x="5407" y="545458"/>
                    <a:pt x="0" y="532403"/>
                    <a:pt x="0" y="518792"/>
                  </a:cubicBezTo>
                  <a:lnTo>
                    <a:pt x="0" y="51323"/>
                  </a:lnTo>
                  <a:cubicBezTo>
                    <a:pt x="0" y="37711"/>
                    <a:pt x="5407" y="24657"/>
                    <a:pt x="15032" y="15032"/>
                  </a:cubicBezTo>
                  <a:cubicBezTo>
                    <a:pt x="24657" y="5407"/>
                    <a:pt x="37711" y="0"/>
                    <a:pt x="51323" y="0"/>
                  </a:cubicBezTo>
                  <a:close/>
                </a:path>
              </a:pathLst>
            </a:custGeom>
            <a:blipFill>
              <a:blip r:embed="rId6"/>
              <a:stretch>
                <a:fillRect l="-21819" t="0" r="-21819" b="0"/>
              </a:stretch>
            </a:blipFill>
          </p:spPr>
        </p:sp>
      </p:grpSp>
      <p:grpSp>
        <p:nvGrpSpPr>
          <p:cNvPr name="Group 8" id="8"/>
          <p:cNvGrpSpPr/>
          <p:nvPr/>
        </p:nvGrpSpPr>
        <p:grpSpPr>
          <a:xfrm rot="0">
            <a:off x="3859245" y="4897565"/>
            <a:ext cx="3469480" cy="4360735"/>
            <a:chOff x="0" y="0"/>
            <a:chExt cx="596446" cy="749663"/>
          </a:xfrm>
        </p:grpSpPr>
        <p:sp>
          <p:nvSpPr>
            <p:cNvPr name="Freeform 9" id="9"/>
            <p:cNvSpPr/>
            <p:nvPr/>
          </p:nvSpPr>
          <p:spPr>
            <a:xfrm flipH="false" flipV="false" rot="0">
              <a:off x="0" y="0"/>
              <a:ext cx="596446" cy="749663"/>
            </a:xfrm>
            <a:custGeom>
              <a:avLst/>
              <a:gdLst/>
              <a:ahLst/>
              <a:cxnLst/>
              <a:rect r="r" b="b" t="t" l="l"/>
              <a:pathLst>
                <a:path h="749663" w="596446">
                  <a:moveTo>
                    <a:pt x="51323" y="0"/>
                  </a:moveTo>
                  <a:lnTo>
                    <a:pt x="545123" y="0"/>
                  </a:lnTo>
                  <a:cubicBezTo>
                    <a:pt x="573468" y="0"/>
                    <a:pt x="596446" y="22978"/>
                    <a:pt x="596446" y="51323"/>
                  </a:cubicBezTo>
                  <a:lnTo>
                    <a:pt x="596446" y="698340"/>
                  </a:lnTo>
                  <a:cubicBezTo>
                    <a:pt x="596446" y="726685"/>
                    <a:pt x="573468" y="749663"/>
                    <a:pt x="545123" y="749663"/>
                  </a:cubicBezTo>
                  <a:lnTo>
                    <a:pt x="51323" y="749663"/>
                  </a:lnTo>
                  <a:cubicBezTo>
                    <a:pt x="37711" y="749663"/>
                    <a:pt x="24657" y="744256"/>
                    <a:pt x="15032" y="734631"/>
                  </a:cubicBezTo>
                  <a:cubicBezTo>
                    <a:pt x="5407" y="725006"/>
                    <a:pt x="0" y="711952"/>
                    <a:pt x="0" y="698340"/>
                  </a:cubicBezTo>
                  <a:lnTo>
                    <a:pt x="0" y="51323"/>
                  </a:lnTo>
                  <a:cubicBezTo>
                    <a:pt x="0" y="37711"/>
                    <a:pt x="5407" y="24657"/>
                    <a:pt x="15032" y="15032"/>
                  </a:cubicBezTo>
                  <a:cubicBezTo>
                    <a:pt x="24657" y="5407"/>
                    <a:pt x="37711" y="0"/>
                    <a:pt x="51323" y="0"/>
                  </a:cubicBezTo>
                  <a:close/>
                </a:path>
              </a:pathLst>
            </a:custGeom>
            <a:blipFill>
              <a:blip r:embed="rId7"/>
              <a:stretch>
                <a:fillRect l="-48194" t="0" r="-48194" b="0"/>
              </a:stretch>
            </a:blipFill>
          </p:spPr>
        </p:sp>
      </p:grpSp>
      <p:sp>
        <p:nvSpPr>
          <p:cNvPr name="TextBox 10" id="10"/>
          <p:cNvSpPr txBox="true"/>
          <p:nvPr/>
        </p:nvSpPr>
        <p:spPr>
          <a:xfrm rot="0">
            <a:off x="8370906" y="5096848"/>
            <a:ext cx="6116874" cy="507826"/>
          </a:xfrm>
          <a:prstGeom prst="rect">
            <a:avLst/>
          </a:prstGeom>
        </p:spPr>
        <p:txBody>
          <a:bodyPr anchor="t" rtlCol="false" tIns="0" lIns="0" bIns="0" rIns="0">
            <a:spAutoFit/>
          </a:bodyPr>
          <a:lstStyle/>
          <a:p>
            <a:pPr algn="just">
              <a:lnSpc>
                <a:spcPts val="4034"/>
              </a:lnSpc>
            </a:pPr>
            <a:r>
              <a:rPr lang="en-US" b="true" sz="2881">
                <a:solidFill>
                  <a:srgbClr val="5492B1"/>
                </a:solidFill>
                <a:latin typeface="Poppins Bold"/>
                <a:ea typeface="Poppins Bold"/>
                <a:cs typeface="Poppins Bold"/>
                <a:sym typeface="Poppins Bold"/>
              </a:rPr>
              <a:t>What are Prompt Templates?</a:t>
            </a:r>
          </a:p>
        </p:txBody>
      </p:sp>
      <p:sp>
        <p:nvSpPr>
          <p:cNvPr name="TextBox 11" id="11"/>
          <p:cNvSpPr txBox="true"/>
          <p:nvPr/>
        </p:nvSpPr>
        <p:spPr>
          <a:xfrm rot="0">
            <a:off x="8370906" y="2620182"/>
            <a:ext cx="8663924" cy="808816"/>
          </a:xfrm>
          <a:prstGeom prst="rect">
            <a:avLst/>
          </a:prstGeom>
        </p:spPr>
        <p:txBody>
          <a:bodyPr anchor="t" rtlCol="false" tIns="0" lIns="0" bIns="0" rIns="0">
            <a:spAutoFit/>
          </a:bodyPr>
          <a:lstStyle/>
          <a:p>
            <a:pPr algn="just">
              <a:lnSpc>
                <a:spcPts val="3194"/>
              </a:lnSpc>
            </a:pPr>
            <a:r>
              <a:rPr lang="en-US" sz="2281">
                <a:solidFill>
                  <a:srgbClr val="000000"/>
                </a:solidFill>
                <a:latin typeface="Poppins"/>
                <a:ea typeface="Poppins"/>
                <a:cs typeface="Poppins"/>
                <a:sym typeface="Poppins"/>
              </a:rPr>
              <a:t>A simple input, instruction or command you give to AI to make it understand what you want.</a:t>
            </a:r>
          </a:p>
        </p:txBody>
      </p:sp>
    </p:spTree>
  </p:cSld>
  <p:clrMapOvr>
    <a:masterClrMapping/>
  </p:clrMapOvr>
  <p:transition spd="slow">
    <p:cover dir="l"/>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79003" y="2864079"/>
            <a:ext cx="8936071" cy="737696"/>
          </a:xfrm>
          <a:prstGeom prst="rect">
            <a:avLst/>
          </a:prstGeom>
        </p:spPr>
        <p:txBody>
          <a:bodyPr anchor="t" rtlCol="false" tIns="0" lIns="0" bIns="0" rIns="0">
            <a:spAutoFit/>
          </a:bodyPr>
          <a:lstStyle/>
          <a:p>
            <a:pPr algn="l">
              <a:lnSpc>
                <a:spcPts val="2914"/>
              </a:lnSpc>
              <a:spcBef>
                <a:spcPct val="0"/>
              </a:spcBef>
            </a:pPr>
            <a:r>
              <a:rPr lang="en-US" sz="2081">
                <a:solidFill>
                  <a:srgbClr val="000000"/>
                </a:solidFill>
                <a:latin typeface="Poppins"/>
                <a:ea typeface="Poppins"/>
                <a:cs typeface="Poppins"/>
                <a:sym typeface="Poppins"/>
              </a:rPr>
              <a:t>C</a:t>
            </a:r>
            <a:r>
              <a:rPr lang="en-US" sz="2081" strike="noStrike" u="none">
                <a:solidFill>
                  <a:srgbClr val="000000"/>
                </a:solidFill>
                <a:latin typeface="Poppins"/>
                <a:ea typeface="Poppins"/>
                <a:cs typeface="Poppins"/>
                <a:sym typeface="Poppins"/>
              </a:rPr>
              <a:t>onverts </a:t>
            </a:r>
            <a:r>
              <a:rPr lang="en-US" sz="2081" strike="noStrike" u="none">
                <a:solidFill>
                  <a:srgbClr val="000000"/>
                </a:solidFill>
                <a:latin typeface="Poppins"/>
                <a:ea typeface="Poppins"/>
                <a:cs typeface="Poppins"/>
                <a:sym typeface="Poppins"/>
              </a:rPr>
              <a:t>LLM</a:t>
            </a:r>
            <a:r>
              <a:rPr lang="en-US" sz="2081" strike="noStrike" u="none">
                <a:solidFill>
                  <a:srgbClr val="000000"/>
                </a:solidFill>
                <a:latin typeface="Poppins"/>
                <a:ea typeface="Poppins"/>
                <a:cs typeface="Poppins"/>
                <a:sym typeface="Poppins"/>
              </a:rPr>
              <a:t> ra</a:t>
            </a:r>
            <a:r>
              <a:rPr lang="en-US" sz="2081" strike="noStrike" u="none">
                <a:solidFill>
                  <a:srgbClr val="000000"/>
                </a:solidFill>
                <a:latin typeface="Poppins"/>
                <a:ea typeface="Poppins"/>
                <a:cs typeface="Poppins"/>
                <a:sym typeface="Poppins"/>
              </a:rPr>
              <a:t>w</a:t>
            </a:r>
            <a:r>
              <a:rPr lang="en-US" sz="2081" strike="noStrike" u="none">
                <a:solidFill>
                  <a:srgbClr val="000000"/>
                </a:solidFill>
                <a:latin typeface="Poppins"/>
                <a:ea typeface="Poppins"/>
                <a:cs typeface="Poppins"/>
                <a:sym typeface="Poppins"/>
              </a:rPr>
              <a:t> te</a:t>
            </a:r>
            <a:r>
              <a:rPr lang="en-US" sz="2081" strike="noStrike" u="none">
                <a:solidFill>
                  <a:srgbClr val="000000"/>
                </a:solidFill>
                <a:latin typeface="Poppins"/>
                <a:ea typeface="Poppins"/>
                <a:cs typeface="Poppins"/>
                <a:sym typeface="Poppins"/>
              </a:rPr>
              <a:t>x</a:t>
            </a:r>
            <a:r>
              <a:rPr lang="en-US" sz="2081" strike="noStrike" u="none">
                <a:solidFill>
                  <a:srgbClr val="000000"/>
                </a:solidFill>
                <a:latin typeface="Poppins"/>
                <a:ea typeface="Poppins"/>
                <a:cs typeface="Poppins"/>
                <a:sym typeface="Poppins"/>
              </a:rPr>
              <a:t>t </a:t>
            </a:r>
            <a:r>
              <a:rPr lang="en-US" sz="2081" strike="noStrike" u="none">
                <a:solidFill>
                  <a:srgbClr val="000000"/>
                </a:solidFill>
                <a:latin typeface="Poppins"/>
                <a:ea typeface="Poppins"/>
                <a:cs typeface="Poppins"/>
                <a:sym typeface="Poppins"/>
              </a:rPr>
              <a:t>o</a:t>
            </a:r>
            <a:r>
              <a:rPr lang="en-US" sz="2081" strike="noStrike" u="none">
                <a:solidFill>
                  <a:srgbClr val="000000"/>
                </a:solidFill>
                <a:latin typeface="Poppins"/>
                <a:ea typeface="Poppins"/>
                <a:cs typeface="Poppins"/>
                <a:sym typeface="Poppins"/>
              </a:rPr>
              <a:t>ut</a:t>
            </a:r>
            <a:r>
              <a:rPr lang="en-US" sz="2081" strike="noStrike" u="none">
                <a:solidFill>
                  <a:srgbClr val="000000"/>
                </a:solidFill>
                <a:latin typeface="Poppins"/>
                <a:ea typeface="Poppins"/>
                <a:cs typeface="Poppins"/>
                <a:sym typeface="Poppins"/>
              </a:rPr>
              <a:t>pu</a:t>
            </a:r>
            <a:r>
              <a:rPr lang="en-US" sz="2081" strike="noStrike" u="none">
                <a:solidFill>
                  <a:srgbClr val="000000"/>
                </a:solidFill>
                <a:latin typeface="Poppins"/>
                <a:ea typeface="Poppins"/>
                <a:cs typeface="Poppins"/>
                <a:sym typeface="Poppins"/>
              </a:rPr>
              <a:t>t into a str</a:t>
            </a:r>
            <a:r>
              <a:rPr lang="en-US" sz="2081" strike="noStrike" u="none">
                <a:solidFill>
                  <a:srgbClr val="000000"/>
                </a:solidFill>
                <a:latin typeface="Poppins"/>
                <a:ea typeface="Poppins"/>
                <a:cs typeface="Poppins"/>
                <a:sym typeface="Poppins"/>
              </a:rPr>
              <a:t>u</a:t>
            </a:r>
            <a:r>
              <a:rPr lang="en-US" sz="2081" strike="noStrike" u="none">
                <a:solidFill>
                  <a:srgbClr val="000000"/>
                </a:solidFill>
                <a:latin typeface="Poppins"/>
                <a:ea typeface="Poppins"/>
                <a:cs typeface="Poppins"/>
                <a:sym typeface="Poppins"/>
              </a:rPr>
              <a:t>ctured for</a:t>
            </a:r>
            <a:r>
              <a:rPr lang="en-US" sz="2081" strike="noStrike" u="none">
                <a:solidFill>
                  <a:srgbClr val="000000"/>
                </a:solidFill>
                <a:latin typeface="Poppins"/>
                <a:ea typeface="Poppins"/>
                <a:cs typeface="Poppins"/>
                <a:sym typeface="Poppins"/>
              </a:rPr>
              <a:t>m</a:t>
            </a:r>
            <a:r>
              <a:rPr lang="en-US" sz="2081" strike="noStrike" u="none">
                <a:solidFill>
                  <a:srgbClr val="000000"/>
                </a:solidFill>
                <a:latin typeface="Poppins"/>
                <a:ea typeface="Poppins"/>
                <a:cs typeface="Poppins"/>
                <a:sym typeface="Poppins"/>
              </a:rPr>
              <a:t>at</a:t>
            </a:r>
          </a:p>
          <a:p>
            <a:pPr algn="l" marL="0" indent="0" lvl="0">
              <a:lnSpc>
                <a:spcPts val="2914"/>
              </a:lnSpc>
              <a:spcBef>
                <a:spcPct val="0"/>
              </a:spcBef>
            </a:pPr>
          </a:p>
        </p:txBody>
      </p:sp>
      <p:grpSp>
        <p:nvGrpSpPr>
          <p:cNvPr name="Group 3" id="3"/>
          <p:cNvGrpSpPr/>
          <p:nvPr/>
        </p:nvGrpSpPr>
        <p:grpSpPr>
          <a:xfrm rot="0">
            <a:off x="11223287" y="0"/>
            <a:ext cx="7064713" cy="10287000"/>
            <a:chOff x="0" y="0"/>
            <a:chExt cx="1860665" cy="2709333"/>
          </a:xfrm>
        </p:grpSpPr>
        <p:sp>
          <p:nvSpPr>
            <p:cNvPr name="Freeform 4" id="4"/>
            <p:cNvSpPr/>
            <p:nvPr/>
          </p:nvSpPr>
          <p:spPr>
            <a:xfrm flipH="false" flipV="false" rot="0">
              <a:off x="0" y="0"/>
              <a:ext cx="1860665" cy="2709333"/>
            </a:xfrm>
            <a:custGeom>
              <a:avLst/>
              <a:gdLst/>
              <a:ahLst/>
              <a:cxnLst/>
              <a:rect r="r" b="b" t="t" l="l"/>
              <a:pathLst>
                <a:path h="2709333" w="1860665">
                  <a:moveTo>
                    <a:pt x="0" y="0"/>
                  </a:moveTo>
                  <a:lnTo>
                    <a:pt x="1860665" y="0"/>
                  </a:lnTo>
                  <a:lnTo>
                    <a:pt x="1860665" y="2709333"/>
                  </a:lnTo>
                  <a:lnTo>
                    <a:pt x="0" y="2709333"/>
                  </a:lnTo>
                  <a:close/>
                </a:path>
              </a:pathLst>
            </a:custGeom>
            <a:solidFill>
              <a:srgbClr val="59B1C6"/>
            </a:solidFill>
          </p:spPr>
        </p:sp>
        <p:sp>
          <p:nvSpPr>
            <p:cNvPr name="TextBox 5" id="5"/>
            <p:cNvSpPr txBox="true"/>
            <p:nvPr/>
          </p:nvSpPr>
          <p:spPr>
            <a:xfrm>
              <a:off x="0" y="-66675"/>
              <a:ext cx="1860665" cy="2776008"/>
            </a:xfrm>
            <a:prstGeom prst="rect">
              <a:avLst/>
            </a:prstGeom>
          </p:spPr>
          <p:txBody>
            <a:bodyPr anchor="ctr" rtlCol="false" tIns="50800" lIns="50800" bIns="50800" rIns="50800"/>
            <a:lstStyle/>
            <a:p>
              <a:pPr algn="ctr">
                <a:lnSpc>
                  <a:spcPts val="2914"/>
                </a:lnSpc>
              </a:pPr>
            </a:p>
          </p:txBody>
        </p:sp>
      </p:grpSp>
      <p:grpSp>
        <p:nvGrpSpPr>
          <p:cNvPr name="Group 6" id="6"/>
          <p:cNvGrpSpPr/>
          <p:nvPr/>
        </p:nvGrpSpPr>
        <p:grpSpPr>
          <a:xfrm rot="0">
            <a:off x="12132459" y="2515411"/>
            <a:ext cx="5246370" cy="4475129"/>
            <a:chOff x="0" y="0"/>
            <a:chExt cx="812800" cy="693315"/>
          </a:xfrm>
        </p:grpSpPr>
        <p:sp>
          <p:nvSpPr>
            <p:cNvPr name="Freeform 7" id="7"/>
            <p:cNvSpPr/>
            <p:nvPr/>
          </p:nvSpPr>
          <p:spPr>
            <a:xfrm flipH="false" flipV="false" rot="0">
              <a:off x="0" y="0"/>
              <a:ext cx="812800" cy="693315"/>
            </a:xfrm>
            <a:custGeom>
              <a:avLst/>
              <a:gdLst/>
              <a:ahLst/>
              <a:cxnLst/>
              <a:rect r="r" b="b" t="t" l="l"/>
              <a:pathLst>
                <a:path h="693315" w="812800">
                  <a:moveTo>
                    <a:pt x="33940" y="0"/>
                  </a:moveTo>
                  <a:lnTo>
                    <a:pt x="778860" y="0"/>
                  </a:lnTo>
                  <a:cubicBezTo>
                    <a:pt x="797604" y="0"/>
                    <a:pt x="812800" y="15196"/>
                    <a:pt x="812800" y="33940"/>
                  </a:cubicBezTo>
                  <a:lnTo>
                    <a:pt x="812800" y="659374"/>
                  </a:lnTo>
                  <a:cubicBezTo>
                    <a:pt x="812800" y="678119"/>
                    <a:pt x="797604" y="693315"/>
                    <a:pt x="778860" y="693315"/>
                  </a:cubicBezTo>
                  <a:lnTo>
                    <a:pt x="33940" y="693315"/>
                  </a:lnTo>
                  <a:cubicBezTo>
                    <a:pt x="24939" y="693315"/>
                    <a:pt x="16306" y="689739"/>
                    <a:pt x="9941" y="683374"/>
                  </a:cubicBezTo>
                  <a:cubicBezTo>
                    <a:pt x="3576" y="677009"/>
                    <a:pt x="0" y="668376"/>
                    <a:pt x="0" y="659374"/>
                  </a:cubicBezTo>
                  <a:lnTo>
                    <a:pt x="0" y="33940"/>
                  </a:lnTo>
                  <a:cubicBezTo>
                    <a:pt x="0" y="15196"/>
                    <a:pt x="15196" y="0"/>
                    <a:pt x="33940" y="0"/>
                  </a:cubicBezTo>
                  <a:close/>
                </a:path>
              </a:pathLst>
            </a:custGeom>
            <a:blipFill>
              <a:blip r:embed="rId2"/>
              <a:stretch>
                <a:fillRect l="-25913" t="0" r="-25913" b="0"/>
              </a:stretch>
            </a:blipFill>
          </p:spPr>
        </p:sp>
      </p:grpSp>
      <p:sp>
        <p:nvSpPr>
          <p:cNvPr name="TextBox 8" id="8"/>
          <p:cNvSpPr txBox="true"/>
          <p:nvPr/>
        </p:nvSpPr>
        <p:spPr>
          <a:xfrm rot="0">
            <a:off x="579003" y="749219"/>
            <a:ext cx="10463309" cy="1381125"/>
          </a:xfrm>
          <a:prstGeom prst="rect">
            <a:avLst/>
          </a:prstGeom>
        </p:spPr>
        <p:txBody>
          <a:bodyPr anchor="t" rtlCol="false" tIns="0" lIns="0" bIns="0" rIns="0">
            <a:spAutoFit/>
          </a:bodyPr>
          <a:lstStyle/>
          <a:p>
            <a:pPr algn="just" marL="0" indent="0" lvl="0">
              <a:lnSpc>
                <a:spcPts val="10320"/>
              </a:lnSpc>
              <a:spcBef>
                <a:spcPct val="0"/>
              </a:spcBef>
            </a:pPr>
            <a:r>
              <a:rPr lang="en-US" b="true" sz="8600">
                <a:solidFill>
                  <a:srgbClr val="5492B1"/>
                </a:solidFill>
                <a:latin typeface="Poppins Semi-Bold"/>
                <a:ea typeface="Poppins Semi-Bold"/>
                <a:cs typeface="Poppins Semi-Bold"/>
                <a:sym typeface="Poppins Semi-Bold"/>
              </a:rPr>
              <a:t>Structured Output</a:t>
            </a:r>
          </a:p>
        </p:txBody>
      </p:sp>
      <p:sp>
        <p:nvSpPr>
          <p:cNvPr name="TextBox 9" id="9"/>
          <p:cNvSpPr txBox="true"/>
          <p:nvPr/>
        </p:nvSpPr>
        <p:spPr>
          <a:xfrm rot="0">
            <a:off x="579003" y="3771900"/>
            <a:ext cx="2832647" cy="981075"/>
          </a:xfrm>
          <a:prstGeom prst="rect">
            <a:avLst/>
          </a:prstGeom>
        </p:spPr>
        <p:txBody>
          <a:bodyPr anchor="t" rtlCol="false" tIns="0" lIns="0" bIns="0" rIns="0">
            <a:spAutoFit/>
          </a:bodyPr>
          <a:lstStyle/>
          <a:p>
            <a:pPr algn="just" marL="0" indent="0" lvl="0">
              <a:lnSpc>
                <a:spcPts val="7200"/>
              </a:lnSpc>
              <a:spcBef>
                <a:spcPct val="0"/>
              </a:spcBef>
            </a:pPr>
            <a:r>
              <a:rPr lang="en-US" b="true" sz="6000">
                <a:solidFill>
                  <a:srgbClr val="5492B1"/>
                </a:solidFill>
                <a:latin typeface="Poppins Semi-Bold"/>
                <a:ea typeface="Poppins Semi-Bold"/>
                <a:cs typeface="Poppins Semi-Bold"/>
                <a:sym typeface="Poppins Semi-Bold"/>
              </a:rPr>
              <a:t>Why ?</a:t>
            </a:r>
          </a:p>
        </p:txBody>
      </p:sp>
      <p:sp>
        <p:nvSpPr>
          <p:cNvPr name="TextBox 10" id="10"/>
          <p:cNvSpPr txBox="true"/>
          <p:nvPr/>
        </p:nvSpPr>
        <p:spPr>
          <a:xfrm rot="0">
            <a:off x="579003" y="5048733"/>
            <a:ext cx="8936071" cy="1461596"/>
          </a:xfrm>
          <a:prstGeom prst="rect">
            <a:avLst/>
          </a:prstGeom>
        </p:spPr>
        <p:txBody>
          <a:bodyPr anchor="t" rtlCol="false" tIns="0" lIns="0" bIns="0" rIns="0">
            <a:spAutoFit/>
          </a:bodyPr>
          <a:lstStyle/>
          <a:p>
            <a:pPr algn="l" marL="449473" indent="-224737" lvl="1">
              <a:lnSpc>
                <a:spcPts val="2914"/>
              </a:lnSpc>
              <a:buFont typeface="Arial"/>
              <a:buChar char="•"/>
            </a:pPr>
            <a:r>
              <a:rPr lang="en-US" sz="2081">
                <a:solidFill>
                  <a:srgbClr val="000000"/>
                </a:solidFill>
                <a:latin typeface="Poppins"/>
                <a:ea typeface="Poppins"/>
                <a:cs typeface="Poppins"/>
                <a:sym typeface="Poppins"/>
              </a:rPr>
              <a:t>LLM output are Unstructred.</a:t>
            </a:r>
          </a:p>
          <a:p>
            <a:pPr algn="l" marL="449473" indent="-224737" lvl="1">
              <a:lnSpc>
                <a:spcPts val="2914"/>
              </a:lnSpc>
              <a:buFont typeface="Arial"/>
              <a:buChar char="•"/>
            </a:pPr>
            <a:r>
              <a:rPr lang="en-US" sz="2081">
                <a:solidFill>
                  <a:srgbClr val="000000"/>
                </a:solidFill>
                <a:latin typeface="Poppins"/>
                <a:ea typeface="Poppins"/>
                <a:cs typeface="Poppins"/>
                <a:sym typeface="Poppins"/>
              </a:rPr>
              <a:t>Application need machine-readable data</a:t>
            </a:r>
          </a:p>
          <a:p>
            <a:pPr algn="l" marL="449473" indent="-224737" lvl="1">
              <a:lnSpc>
                <a:spcPts val="2914"/>
              </a:lnSpc>
              <a:buFont typeface="Arial"/>
              <a:buChar char="•"/>
            </a:pPr>
            <a:r>
              <a:rPr lang="en-US" sz="2081">
                <a:solidFill>
                  <a:srgbClr val="000000"/>
                </a:solidFill>
                <a:latin typeface="Poppins"/>
                <a:ea typeface="Poppins"/>
                <a:cs typeface="Poppins"/>
                <a:sym typeface="Poppins"/>
              </a:rPr>
              <a:t>Text response hard to process.</a:t>
            </a:r>
          </a:p>
          <a:p>
            <a:pPr algn="l" marL="449473" indent="-224737" lvl="1">
              <a:lnSpc>
                <a:spcPts val="2914"/>
              </a:lnSpc>
              <a:buFont typeface="Arial"/>
              <a:buChar char="•"/>
            </a:pPr>
            <a:r>
              <a:rPr lang="en-US" sz="2081">
                <a:solidFill>
                  <a:srgbClr val="000000"/>
                </a:solidFill>
                <a:latin typeface="Poppins"/>
                <a:ea typeface="Poppins"/>
                <a:cs typeface="Poppins"/>
                <a:sym typeface="Poppins"/>
              </a:rPr>
              <a:t>Make automation possible.</a:t>
            </a:r>
          </a:p>
        </p:txBody>
      </p:sp>
      <p:sp>
        <p:nvSpPr>
          <p:cNvPr name="TextBox 11" id="11"/>
          <p:cNvSpPr txBox="true"/>
          <p:nvPr/>
        </p:nvSpPr>
        <p:spPr>
          <a:xfrm rot="0">
            <a:off x="579003" y="7968136"/>
            <a:ext cx="8564997" cy="2027938"/>
          </a:xfrm>
          <a:prstGeom prst="rect">
            <a:avLst/>
          </a:prstGeom>
        </p:spPr>
        <p:txBody>
          <a:bodyPr anchor="t" rtlCol="false" tIns="0" lIns="0" bIns="0" rIns="0">
            <a:spAutoFit/>
          </a:bodyPr>
          <a:lstStyle/>
          <a:p>
            <a:pPr algn="l" marL="504201" indent="-252101" lvl="1">
              <a:lnSpc>
                <a:spcPts val="3269"/>
              </a:lnSpc>
              <a:buFont typeface="Arial"/>
              <a:buChar char="•"/>
            </a:pPr>
            <a:r>
              <a:rPr lang="en-US" sz="2335">
                <a:solidFill>
                  <a:srgbClr val="000000"/>
                </a:solidFill>
                <a:latin typeface="Poppins"/>
                <a:ea typeface="Poppins"/>
                <a:cs typeface="Poppins"/>
                <a:sym typeface="Poppins"/>
              </a:rPr>
              <a:t>TypedDict</a:t>
            </a:r>
          </a:p>
          <a:p>
            <a:pPr algn="l" marL="504201" indent="-252101" lvl="1">
              <a:lnSpc>
                <a:spcPts val="3269"/>
              </a:lnSpc>
              <a:buFont typeface="Arial"/>
              <a:buChar char="•"/>
            </a:pPr>
            <a:r>
              <a:rPr lang="en-US" sz="2335">
                <a:solidFill>
                  <a:srgbClr val="000000"/>
                </a:solidFill>
                <a:latin typeface="Poppins"/>
                <a:ea typeface="Poppins"/>
                <a:cs typeface="Poppins"/>
                <a:sym typeface="Poppins"/>
              </a:rPr>
              <a:t>Pydantic</a:t>
            </a:r>
          </a:p>
          <a:p>
            <a:pPr algn="l" marL="504201" indent="-252101" lvl="1">
              <a:lnSpc>
                <a:spcPts val="3269"/>
              </a:lnSpc>
              <a:buFont typeface="Arial"/>
              <a:buChar char="•"/>
            </a:pPr>
            <a:r>
              <a:rPr lang="en-US" sz="2335">
                <a:solidFill>
                  <a:srgbClr val="000000"/>
                </a:solidFill>
                <a:latin typeface="Poppins"/>
                <a:ea typeface="Poppins"/>
                <a:cs typeface="Poppins"/>
                <a:sym typeface="Poppins"/>
              </a:rPr>
              <a:t>Json Schema</a:t>
            </a:r>
          </a:p>
          <a:p>
            <a:pPr algn="l" marL="504201" indent="-252101" lvl="1">
              <a:lnSpc>
                <a:spcPts val="3269"/>
              </a:lnSpc>
              <a:buFont typeface="Arial"/>
              <a:buChar char="•"/>
            </a:pPr>
            <a:r>
              <a:rPr lang="en-US" sz="2335">
                <a:solidFill>
                  <a:srgbClr val="000000"/>
                </a:solidFill>
                <a:latin typeface="Poppins"/>
                <a:ea typeface="Poppins"/>
                <a:cs typeface="Poppins"/>
                <a:sym typeface="Poppins"/>
              </a:rPr>
              <a:t>Output Parser (Used with LLMs which don’t support structured Output.)</a:t>
            </a:r>
          </a:p>
        </p:txBody>
      </p:sp>
      <p:sp>
        <p:nvSpPr>
          <p:cNvPr name="TextBox 12" id="12"/>
          <p:cNvSpPr txBox="true"/>
          <p:nvPr/>
        </p:nvSpPr>
        <p:spPr>
          <a:xfrm rot="0">
            <a:off x="579003" y="6806086"/>
            <a:ext cx="2832647" cy="981075"/>
          </a:xfrm>
          <a:prstGeom prst="rect">
            <a:avLst/>
          </a:prstGeom>
        </p:spPr>
        <p:txBody>
          <a:bodyPr anchor="t" rtlCol="false" tIns="0" lIns="0" bIns="0" rIns="0">
            <a:spAutoFit/>
          </a:bodyPr>
          <a:lstStyle/>
          <a:p>
            <a:pPr algn="just" marL="0" indent="0" lvl="0">
              <a:lnSpc>
                <a:spcPts val="7200"/>
              </a:lnSpc>
              <a:spcBef>
                <a:spcPct val="0"/>
              </a:spcBef>
            </a:pPr>
            <a:r>
              <a:rPr lang="en-US" b="true" sz="6000">
                <a:solidFill>
                  <a:srgbClr val="5492B1"/>
                </a:solidFill>
                <a:latin typeface="Poppins Semi-Bold"/>
                <a:ea typeface="Poppins Semi-Bold"/>
                <a:cs typeface="Poppins Semi-Bold"/>
                <a:sym typeface="Poppins Semi-Bold"/>
              </a:rPr>
              <a:t>How ?</a:t>
            </a:r>
          </a:p>
        </p:txBody>
      </p:sp>
    </p:spTree>
  </p:cSld>
  <p:clrMapOvr>
    <a:masterClrMapping/>
  </p:clrMapOvr>
  <p:transition spd="slow">
    <p:cover dir="l"/>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095418" y="0"/>
            <a:ext cx="6192582" cy="10287000"/>
            <a:chOff x="0" y="0"/>
            <a:chExt cx="1630968" cy="2709333"/>
          </a:xfrm>
        </p:grpSpPr>
        <p:sp>
          <p:nvSpPr>
            <p:cNvPr name="Freeform 3" id="3"/>
            <p:cNvSpPr/>
            <p:nvPr/>
          </p:nvSpPr>
          <p:spPr>
            <a:xfrm flipH="false" flipV="false" rot="0">
              <a:off x="0" y="0"/>
              <a:ext cx="1630968" cy="2709333"/>
            </a:xfrm>
            <a:custGeom>
              <a:avLst/>
              <a:gdLst/>
              <a:ahLst/>
              <a:cxnLst/>
              <a:rect r="r" b="b" t="t" l="l"/>
              <a:pathLst>
                <a:path h="2709333" w="1630968">
                  <a:moveTo>
                    <a:pt x="0" y="0"/>
                  </a:moveTo>
                  <a:lnTo>
                    <a:pt x="1630968" y="0"/>
                  </a:lnTo>
                  <a:lnTo>
                    <a:pt x="1630968" y="2709333"/>
                  </a:lnTo>
                  <a:lnTo>
                    <a:pt x="0" y="2709333"/>
                  </a:lnTo>
                  <a:close/>
                </a:path>
              </a:pathLst>
            </a:custGeom>
            <a:solidFill>
              <a:srgbClr val="59B1C6"/>
            </a:solidFill>
          </p:spPr>
        </p:sp>
        <p:sp>
          <p:nvSpPr>
            <p:cNvPr name="TextBox 4" id="4"/>
            <p:cNvSpPr txBox="true"/>
            <p:nvPr/>
          </p:nvSpPr>
          <p:spPr>
            <a:xfrm>
              <a:off x="0" y="-66675"/>
              <a:ext cx="1630968" cy="2776008"/>
            </a:xfrm>
            <a:prstGeom prst="rect">
              <a:avLst/>
            </a:prstGeom>
          </p:spPr>
          <p:txBody>
            <a:bodyPr anchor="ctr" rtlCol="false" tIns="50800" lIns="50800" bIns="50800" rIns="50800"/>
            <a:lstStyle/>
            <a:p>
              <a:pPr algn="ctr">
                <a:lnSpc>
                  <a:spcPts val="2914"/>
                </a:lnSpc>
              </a:pPr>
            </a:p>
          </p:txBody>
        </p:sp>
      </p:grpSp>
      <p:sp>
        <p:nvSpPr>
          <p:cNvPr name="Freeform 5" id="5"/>
          <p:cNvSpPr/>
          <p:nvPr/>
        </p:nvSpPr>
        <p:spPr>
          <a:xfrm flipH="false" flipV="false" rot="0">
            <a:off x="12350138" y="3392347"/>
            <a:ext cx="5937862" cy="2715452"/>
          </a:xfrm>
          <a:custGeom>
            <a:avLst/>
            <a:gdLst/>
            <a:ahLst/>
            <a:cxnLst/>
            <a:rect r="r" b="b" t="t" l="l"/>
            <a:pathLst>
              <a:path h="2715452" w="5937862">
                <a:moveTo>
                  <a:pt x="0" y="0"/>
                </a:moveTo>
                <a:lnTo>
                  <a:pt x="5937862" y="0"/>
                </a:lnTo>
                <a:lnTo>
                  <a:pt x="5937862" y="2715452"/>
                </a:lnTo>
                <a:lnTo>
                  <a:pt x="0" y="2715452"/>
                </a:lnTo>
                <a:lnTo>
                  <a:pt x="0" y="0"/>
                </a:lnTo>
                <a:close/>
              </a:path>
            </a:pathLst>
          </a:custGeom>
          <a:blipFill>
            <a:blip r:embed="rId2"/>
            <a:stretch>
              <a:fillRect l="0" t="-5046" r="-1314" b="-5046"/>
            </a:stretch>
          </a:blipFill>
        </p:spPr>
      </p:sp>
      <p:sp>
        <p:nvSpPr>
          <p:cNvPr name="TextBox 6" id="6"/>
          <p:cNvSpPr txBox="true"/>
          <p:nvPr/>
        </p:nvSpPr>
        <p:spPr>
          <a:xfrm rot="0">
            <a:off x="1285875" y="1362692"/>
            <a:ext cx="4689236" cy="2520315"/>
          </a:xfrm>
          <a:prstGeom prst="rect">
            <a:avLst/>
          </a:prstGeom>
        </p:spPr>
        <p:txBody>
          <a:bodyPr anchor="t" rtlCol="false" tIns="0" lIns="0" bIns="0" rIns="0">
            <a:spAutoFit/>
          </a:bodyPr>
          <a:lstStyle/>
          <a:p>
            <a:pPr algn="l">
              <a:lnSpc>
                <a:spcPts val="3359"/>
              </a:lnSpc>
            </a:pPr>
            <a:r>
              <a:rPr lang="en-US" sz="2400" b="true">
                <a:solidFill>
                  <a:srgbClr val="000000"/>
                </a:solidFill>
                <a:latin typeface="Poppins Bold"/>
                <a:ea typeface="Poppins Bold"/>
                <a:cs typeface="Poppins Bold"/>
                <a:sym typeface="Poppins Bold"/>
              </a:rPr>
              <a:t>    Benefits:</a:t>
            </a:r>
          </a:p>
          <a:p>
            <a:pPr algn="l" marL="518160" indent="-259080" lvl="1">
              <a:lnSpc>
                <a:spcPts val="3359"/>
              </a:lnSpc>
              <a:buFont typeface="Arial"/>
              <a:buChar char="•"/>
            </a:pPr>
            <a:r>
              <a:rPr lang="en-US" sz="2400">
                <a:solidFill>
                  <a:srgbClr val="000000"/>
                </a:solidFill>
                <a:latin typeface="Poppins"/>
                <a:ea typeface="Poppins"/>
                <a:cs typeface="Poppins"/>
                <a:sym typeface="Poppins"/>
              </a:rPr>
              <a:t>Defines expected  Key-value types.</a:t>
            </a:r>
          </a:p>
          <a:p>
            <a:pPr algn="l" marL="518160" indent="-259080" lvl="1">
              <a:lnSpc>
                <a:spcPts val="3359"/>
              </a:lnSpc>
              <a:buFont typeface="Arial"/>
              <a:buChar char="•"/>
            </a:pPr>
            <a:r>
              <a:rPr lang="en-US" sz="2400">
                <a:solidFill>
                  <a:srgbClr val="000000"/>
                </a:solidFill>
                <a:latin typeface="Poppins"/>
                <a:ea typeface="Poppins"/>
                <a:cs typeface="Poppins"/>
                <a:sym typeface="Poppins"/>
              </a:rPr>
              <a:t>Generally used when whole project is in python.</a:t>
            </a:r>
          </a:p>
          <a:p>
            <a:pPr algn="l">
              <a:lnSpc>
                <a:spcPts val="3359"/>
              </a:lnSpc>
            </a:pPr>
          </a:p>
        </p:txBody>
      </p:sp>
      <p:sp>
        <p:nvSpPr>
          <p:cNvPr name="TextBox 7" id="7"/>
          <p:cNvSpPr txBox="true"/>
          <p:nvPr/>
        </p:nvSpPr>
        <p:spPr>
          <a:xfrm rot="0">
            <a:off x="1285875" y="548928"/>
            <a:ext cx="2592550" cy="571500"/>
          </a:xfrm>
          <a:prstGeom prst="rect">
            <a:avLst/>
          </a:prstGeom>
        </p:spPr>
        <p:txBody>
          <a:bodyPr anchor="t" rtlCol="false" tIns="0" lIns="0" bIns="0" rIns="0">
            <a:spAutoFit/>
          </a:bodyPr>
          <a:lstStyle/>
          <a:p>
            <a:pPr algn="just" marL="0" indent="0" lvl="0">
              <a:lnSpc>
                <a:spcPts val="4200"/>
              </a:lnSpc>
              <a:spcBef>
                <a:spcPct val="0"/>
              </a:spcBef>
            </a:pPr>
            <a:r>
              <a:rPr lang="en-US" b="true" sz="3500">
                <a:solidFill>
                  <a:srgbClr val="5492B1"/>
                </a:solidFill>
                <a:latin typeface="Poppins Semi-Bold"/>
                <a:ea typeface="Poppins Semi-Bold"/>
                <a:cs typeface="Poppins Semi-Bold"/>
                <a:sym typeface="Poppins Semi-Bold"/>
              </a:rPr>
              <a:t>TypedDict</a:t>
            </a:r>
          </a:p>
        </p:txBody>
      </p:sp>
      <p:sp>
        <p:nvSpPr>
          <p:cNvPr name="TextBox 8" id="8"/>
          <p:cNvSpPr txBox="true"/>
          <p:nvPr/>
        </p:nvSpPr>
        <p:spPr>
          <a:xfrm rot="0">
            <a:off x="6398384" y="1362692"/>
            <a:ext cx="4875229" cy="790805"/>
          </a:xfrm>
          <a:prstGeom prst="rect">
            <a:avLst/>
          </a:prstGeom>
        </p:spPr>
        <p:txBody>
          <a:bodyPr anchor="t" rtlCol="false" tIns="0" lIns="0" bIns="0" rIns="0">
            <a:spAutoFit/>
          </a:bodyPr>
          <a:lstStyle/>
          <a:p>
            <a:pPr algn="l">
              <a:lnSpc>
                <a:spcPts val="2914"/>
              </a:lnSpc>
            </a:pPr>
            <a:r>
              <a:rPr lang="en-US" sz="2081" b="true">
                <a:solidFill>
                  <a:srgbClr val="000000"/>
                </a:solidFill>
                <a:latin typeface="Poppins Bold"/>
                <a:ea typeface="Poppins Bold"/>
                <a:cs typeface="Poppins Bold"/>
                <a:sym typeface="Poppins Bold"/>
              </a:rPr>
              <a:t>    Limitations:</a:t>
            </a:r>
          </a:p>
          <a:p>
            <a:pPr algn="l" marL="518160" indent="-259080" lvl="1">
              <a:lnSpc>
                <a:spcPts val="3359"/>
              </a:lnSpc>
              <a:buFont typeface="Arial"/>
              <a:buChar char="•"/>
            </a:pPr>
            <a:r>
              <a:rPr lang="en-US" sz="2400">
                <a:solidFill>
                  <a:srgbClr val="000000"/>
                </a:solidFill>
                <a:latin typeface="Poppins"/>
                <a:ea typeface="Poppins"/>
                <a:cs typeface="Poppins"/>
                <a:sym typeface="Poppins"/>
              </a:rPr>
              <a:t>No runtime Validation</a:t>
            </a:r>
          </a:p>
        </p:txBody>
      </p:sp>
      <p:sp>
        <p:nvSpPr>
          <p:cNvPr name="TextBox 9" id="9"/>
          <p:cNvSpPr txBox="true"/>
          <p:nvPr/>
        </p:nvSpPr>
        <p:spPr>
          <a:xfrm rot="0">
            <a:off x="1285875" y="4814304"/>
            <a:ext cx="4689236" cy="2520315"/>
          </a:xfrm>
          <a:prstGeom prst="rect">
            <a:avLst/>
          </a:prstGeom>
        </p:spPr>
        <p:txBody>
          <a:bodyPr anchor="t" rtlCol="false" tIns="0" lIns="0" bIns="0" rIns="0">
            <a:spAutoFit/>
          </a:bodyPr>
          <a:lstStyle/>
          <a:p>
            <a:pPr algn="l">
              <a:lnSpc>
                <a:spcPts val="3359"/>
              </a:lnSpc>
            </a:pPr>
            <a:r>
              <a:rPr lang="en-US" sz="2400" b="true">
                <a:solidFill>
                  <a:srgbClr val="000000"/>
                </a:solidFill>
                <a:latin typeface="Poppins Bold"/>
                <a:ea typeface="Poppins Bold"/>
                <a:cs typeface="Poppins Bold"/>
                <a:sym typeface="Poppins Bold"/>
              </a:rPr>
              <a:t>    Benefits:</a:t>
            </a:r>
          </a:p>
          <a:p>
            <a:pPr algn="l" marL="518160" indent="-259080" lvl="1">
              <a:lnSpc>
                <a:spcPts val="3359"/>
              </a:lnSpc>
              <a:buFont typeface="Arial"/>
              <a:buChar char="•"/>
            </a:pPr>
            <a:r>
              <a:rPr lang="en-US" sz="2400">
                <a:solidFill>
                  <a:srgbClr val="000000"/>
                </a:solidFill>
                <a:latin typeface="Poppins"/>
                <a:ea typeface="Poppins"/>
                <a:cs typeface="Poppins"/>
                <a:sym typeface="Poppins"/>
              </a:rPr>
              <a:t>Strict data validation</a:t>
            </a:r>
          </a:p>
          <a:p>
            <a:pPr algn="l" marL="518160" indent="-259080" lvl="1">
              <a:lnSpc>
                <a:spcPts val="3359"/>
              </a:lnSpc>
              <a:buFont typeface="Arial"/>
              <a:buChar char="•"/>
            </a:pPr>
            <a:r>
              <a:rPr lang="en-US" sz="2400">
                <a:solidFill>
                  <a:srgbClr val="000000"/>
                </a:solidFill>
                <a:latin typeface="Poppins"/>
                <a:ea typeface="Poppins"/>
                <a:cs typeface="Poppins"/>
                <a:sym typeface="Poppins"/>
              </a:rPr>
              <a:t>Automatic error handling</a:t>
            </a:r>
          </a:p>
          <a:p>
            <a:pPr algn="l" marL="518160" indent="-259080" lvl="1">
              <a:lnSpc>
                <a:spcPts val="3359"/>
              </a:lnSpc>
              <a:buFont typeface="Arial"/>
              <a:buChar char="•"/>
            </a:pPr>
            <a:r>
              <a:rPr lang="en-US" sz="2400">
                <a:solidFill>
                  <a:srgbClr val="000000"/>
                </a:solidFill>
                <a:latin typeface="Poppins"/>
                <a:ea typeface="Poppins"/>
                <a:cs typeface="Poppins"/>
                <a:sym typeface="Poppins"/>
              </a:rPr>
              <a:t>Converts output into python objects</a:t>
            </a:r>
          </a:p>
          <a:p>
            <a:pPr algn="l">
              <a:lnSpc>
                <a:spcPts val="3359"/>
              </a:lnSpc>
            </a:pPr>
          </a:p>
        </p:txBody>
      </p:sp>
      <p:sp>
        <p:nvSpPr>
          <p:cNvPr name="TextBox 10" id="10"/>
          <p:cNvSpPr txBox="true"/>
          <p:nvPr/>
        </p:nvSpPr>
        <p:spPr>
          <a:xfrm rot="0">
            <a:off x="1285875" y="4054457"/>
            <a:ext cx="2899603" cy="571500"/>
          </a:xfrm>
          <a:prstGeom prst="rect">
            <a:avLst/>
          </a:prstGeom>
        </p:spPr>
        <p:txBody>
          <a:bodyPr anchor="t" rtlCol="false" tIns="0" lIns="0" bIns="0" rIns="0">
            <a:spAutoFit/>
          </a:bodyPr>
          <a:lstStyle/>
          <a:p>
            <a:pPr algn="just" marL="0" indent="0" lvl="0">
              <a:lnSpc>
                <a:spcPts val="4200"/>
              </a:lnSpc>
              <a:spcBef>
                <a:spcPct val="0"/>
              </a:spcBef>
            </a:pPr>
            <a:r>
              <a:rPr lang="en-US" b="true" sz="3500">
                <a:solidFill>
                  <a:srgbClr val="5492B1"/>
                </a:solidFill>
                <a:latin typeface="Poppins Semi-Bold"/>
                <a:ea typeface="Poppins Semi-Bold"/>
                <a:cs typeface="Poppins Semi-Bold"/>
                <a:sym typeface="Poppins Semi-Bold"/>
              </a:rPr>
              <a:t>Pydantic</a:t>
            </a:r>
          </a:p>
        </p:txBody>
      </p:sp>
      <p:sp>
        <p:nvSpPr>
          <p:cNvPr name="TextBox 11" id="11"/>
          <p:cNvSpPr txBox="true"/>
          <p:nvPr/>
        </p:nvSpPr>
        <p:spPr>
          <a:xfrm rot="0">
            <a:off x="6398384" y="4814304"/>
            <a:ext cx="4875229" cy="1263015"/>
          </a:xfrm>
          <a:prstGeom prst="rect">
            <a:avLst/>
          </a:prstGeom>
        </p:spPr>
        <p:txBody>
          <a:bodyPr anchor="t" rtlCol="false" tIns="0" lIns="0" bIns="0" rIns="0">
            <a:spAutoFit/>
          </a:bodyPr>
          <a:lstStyle/>
          <a:p>
            <a:pPr algn="l">
              <a:lnSpc>
                <a:spcPts val="3359"/>
              </a:lnSpc>
            </a:pPr>
            <a:r>
              <a:rPr lang="en-US" sz="2400" b="true">
                <a:solidFill>
                  <a:srgbClr val="000000"/>
                </a:solidFill>
                <a:latin typeface="Poppins Bold"/>
                <a:ea typeface="Poppins Bold"/>
                <a:cs typeface="Poppins Bold"/>
                <a:sym typeface="Poppins Bold"/>
              </a:rPr>
              <a:t>    Limitations:</a:t>
            </a:r>
          </a:p>
          <a:p>
            <a:pPr algn="l" marL="518160" indent="-259080" lvl="1">
              <a:lnSpc>
                <a:spcPts val="3359"/>
              </a:lnSpc>
              <a:buFont typeface="Arial"/>
              <a:buChar char="•"/>
            </a:pPr>
            <a:r>
              <a:rPr lang="en-US" sz="2400">
                <a:solidFill>
                  <a:srgbClr val="000000"/>
                </a:solidFill>
                <a:latin typeface="Poppins"/>
                <a:ea typeface="Poppins"/>
                <a:cs typeface="Poppins"/>
                <a:sym typeface="Poppins"/>
              </a:rPr>
              <a:t>Fails on bad output</a:t>
            </a:r>
          </a:p>
          <a:p>
            <a:pPr algn="l">
              <a:lnSpc>
                <a:spcPts val="3359"/>
              </a:lnSpc>
            </a:pPr>
          </a:p>
        </p:txBody>
      </p:sp>
      <p:sp>
        <p:nvSpPr>
          <p:cNvPr name="TextBox 12" id="12"/>
          <p:cNvSpPr txBox="true"/>
          <p:nvPr/>
        </p:nvSpPr>
        <p:spPr>
          <a:xfrm rot="0">
            <a:off x="1285875" y="8257822"/>
            <a:ext cx="4689236" cy="1682115"/>
          </a:xfrm>
          <a:prstGeom prst="rect">
            <a:avLst/>
          </a:prstGeom>
        </p:spPr>
        <p:txBody>
          <a:bodyPr anchor="t" rtlCol="false" tIns="0" lIns="0" bIns="0" rIns="0">
            <a:spAutoFit/>
          </a:bodyPr>
          <a:lstStyle/>
          <a:p>
            <a:pPr algn="l">
              <a:lnSpc>
                <a:spcPts val="3359"/>
              </a:lnSpc>
            </a:pPr>
            <a:r>
              <a:rPr lang="en-US" sz="2400" b="true">
                <a:solidFill>
                  <a:srgbClr val="000000"/>
                </a:solidFill>
                <a:latin typeface="Poppins Bold"/>
                <a:ea typeface="Poppins Bold"/>
                <a:cs typeface="Poppins Bold"/>
                <a:sym typeface="Poppins Bold"/>
              </a:rPr>
              <a:t>    Benefits:</a:t>
            </a:r>
          </a:p>
          <a:p>
            <a:pPr algn="l" marL="518160" indent="-259080" lvl="1">
              <a:lnSpc>
                <a:spcPts val="3359"/>
              </a:lnSpc>
              <a:buFont typeface="Arial"/>
              <a:buChar char="•"/>
            </a:pPr>
            <a:r>
              <a:rPr lang="en-US" sz="2400">
                <a:solidFill>
                  <a:srgbClr val="000000"/>
                </a:solidFill>
                <a:latin typeface="Poppins"/>
                <a:ea typeface="Poppins"/>
                <a:cs typeface="Poppins"/>
                <a:sym typeface="Poppins"/>
              </a:rPr>
              <a:t>Standardized format</a:t>
            </a:r>
          </a:p>
          <a:p>
            <a:pPr algn="l" marL="518160" indent="-259080" lvl="1">
              <a:lnSpc>
                <a:spcPts val="3359"/>
              </a:lnSpc>
              <a:buFont typeface="Arial"/>
              <a:buChar char="•"/>
            </a:pPr>
            <a:r>
              <a:rPr lang="en-US" sz="2400">
                <a:solidFill>
                  <a:srgbClr val="000000"/>
                </a:solidFill>
                <a:latin typeface="Poppins"/>
                <a:ea typeface="Poppins"/>
                <a:cs typeface="Poppins"/>
                <a:sym typeface="Poppins"/>
              </a:rPr>
              <a:t>Cross Language compatible</a:t>
            </a:r>
          </a:p>
        </p:txBody>
      </p:sp>
      <p:sp>
        <p:nvSpPr>
          <p:cNvPr name="TextBox 13" id="13"/>
          <p:cNvSpPr txBox="true"/>
          <p:nvPr/>
        </p:nvSpPr>
        <p:spPr>
          <a:xfrm rot="0">
            <a:off x="1285875" y="7438672"/>
            <a:ext cx="3519579" cy="571500"/>
          </a:xfrm>
          <a:prstGeom prst="rect">
            <a:avLst/>
          </a:prstGeom>
        </p:spPr>
        <p:txBody>
          <a:bodyPr anchor="t" rtlCol="false" tIns="0" lIns="0" bIns="0" rIns="0">
            <a:spAutoFit/>
          </a:bodyPr>
          <a:lstStyle/>
          <a:p>
            <a:pPr algn="just" marL="0" indent="0" lvl="0">
              <a:lnSpc>
                <a:spcPts val="4200"/>
              </a:lnSpc>
              <a:spcBef>
                <a:spcPct val="0"/>
              </a:spcBef>
            </a:pPr>
            <a:r>
              <a:rPr lang="en-US" b="true" sz="3500">
                <a:solidFill>
                  <a:srgbClr val="5492B1"/>
                </a:solidFill>
                <a:latin typeface="Poppins Semi-Bold"/>
                <a:ea typeface="Poppins Semi-Bold"/>
                <a:cs typeface="Poppins Semi-Bold"/>
                <a:sym typeface="Poppins Semi-Bold"/>
              </a:rPr>
              <a:t>JSON Schema</a:t>
            </a:r>
          </a:p>
        </p:txBody>
      </p:sp>
      <p:sp>
        <p:nvSpPr>
          <p:cNvPr name="TextBox 14" id="14"/>
          <p:cNvSpPr txBox="true"/>
          <p:nvPr/>
        </p:nvSpPr>
        <p:spPr>
          <a:xfrm rot="0">
            <a:off x="6398384" y="8257822"/>
            <a:ext cx="4875229" cy="1682115"/>
          </a:xfrm>
          <a:prstGeom prst="rect">
            <a:avLst/>
          </a:prstGeom>
        </p:spPr>
        <p:txBody>
          <a:bodyPr anchor="t" rtlCol="false" tIns="0" lIns="0" bIns="0" rIns="0">
            <a:spAutoFit/>
          </a:bodyPr>
          <a:lstStyle/>
          <a:p>
            <a:pPr algn="l">
              <a:lnSpc>
                <a:spcPts val="3359"/>
              </a:lnSpc>
            </a:pPr>
            <a:r>
              <a:rPr lang="en-US" sz="2400" b="true">
                <a:solidFill>
                  <a:srgbClr val="000000"/>
                </a:solidFill>
                <a:latin typeface="Poppins Bold"/>
                <a:ea typeface="Poppins Bold"/>
                <a:cs typeface="Poppins Bold"/>
                <a:sym typeface="Poppins Bold"/>
              </a:rPr>
              <a:t>    Limitations:</a:t>
            </a:r>
          </a:p>
          <a:p>
            <a:pPr algn="l" marL="518160" indent="-259080" lvl="1">
              <a:lnSpc>
                <a:spcPts val="3359"/>
              </a:lnSpc>
              <a:buFont typeface="Arial"/>
              <a:buChar char="•"/>
            </a:pPr>
            <a:r>
              <a:rPr lang="en-US" sz="2400">
                <a:solidFill>
                  <a:srgbClr val="000000"/>
                </a:solidFill>
                <a:latin typeface="Poppins"/>
                <a:ea typeface="Poppins"/>
                <a:cs typeface="Poppins"/>
                <a:sym typeface="Poppins"/>
              </a:rPr>
              <a:t>Large schema become complex</a:t>
            </a:r>
          </a:p>
          <a:p>
            <a:pPr algn="l">
              <a:lnSpc>
                <a:spcPts val="3359"/>
              </a:lnSpc>
            </a:pPr>
          </a:p>
        </p:txBody>
      </p:sp>
    </p:spTree>
  </p:cSld>
  <p:clrMapOvr>
    <a:masterClrMapping/>
  </p:clrMapOvr>
  <p:transition spd="slow">
    <p:cover dir="l"/>
  </p:transition>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152525" y="1998714"/>
            <a:ext cx="5869158" cy="1263015"/>
          </a:xfrm>
          <a:prstGeom prst="rect">
            <a:avLst/>
          </a:prstGeom>
        </p:spPr>
        <p:txBody>
          <a:bodyPr anchor="t" rtlCol="false" tIns="0" lIns="0" bIns="0" rIns="0">
            <a:spAutoFit/>
          </a:bodyPr>
          <a:lstStyle/>
          <a:p>
            <a:pPr algn="l">
              <a:lnSpc>
                <a:spcPts val="3359"/>
              </a:lnSpc>
            </a:pPr>
            <a:r>
              <a:rPr lang="en-US" sz="2400" b="true">
                <a:solidFill>
                  <a:srgbClr val="000000"/>
                </a:solidFill>
                <a:latin typeface="Poppins Bold"/>
                <a:ea typeface="Poppins Bold"/>
                <a:cs typeface="Poppins Bold"/>
                <a:sym typeface="Poppins Bold"/>
              </a:rPr>
              <a:t>    Benefits:</a:t>
            </a:r>
          </a:p>
          <a:p>
            <a:pPr algn="l" marL="518160" indent="-259080" lvl="1">
              <a:lnSpc>
                <a:spcPts val="3359"/>
              </a:lnSpc>
              <a:buFont typeface="Arial"/>
              <a:buChar char="•"/>
            </a:pPr>
            <a:r>
              <a:rPr lang="en-US" sz="2400">
                <a:solidFill>
                  <a:srgbClr val="000000"/>
                </a:solidFill>
                <a:latin typeface="Poppins"/>
                <a:ea typeface="Poppins"/>
                <a:cs typeface="Poppins"/>
                <a:sym typeface="Poppins"/>
              </a:rPr>
              <a:t>Simple and fastest</a:t>
            </a:r>
          </a:p>
          <a:p>
            <a:pPr algn="l" marL="518160" indent="-259080" lvl="1">
              <a:lnSpc>
                <a:spcPts val="3359"/>
              </a:lnSpc>
              <a:buFont typeface="Arial"/>
              <a:buChar char="•"/>
            </a:pPr>
            <a:r>
              <a:rPr lang="en-US" sz="2400">
                <a:solidFill>
                  <a:srgbClr val="000000"/>
                </a:solidFill>
                <a:latin typeface="Poppins"/>
                <a:ea typeface="Poppins"/>
                <a:cs typeface="Poppins"/>
                <a:sym typeface="Poppins"/>
              </a:rPr>
              <a:t>Good for summaries, chat replies</a:t>
            </a:r>
          </a:p>
        </p:txBody>
      </p:sp>
      <p:grpSp>
        <p:nvGrpSpPr>
          <p:cNvPr name="Group 3" id="3"/>
          <p:cNvGrpSpPr/>
          <p:nvPr/>
        </p:nvGrpSpPr>
        <p:grpSpPr>
          <a:xfrm rot="0">
            <a:off x="15745680" y="0"/>
            <a:ext cx="2542320" cy="10287000"/>
            <a:chOff x="0" y="0"/>
            <a:chExt cx="669582" cy="2709333"/>
          </a:xfrm>
        </p:grpSpPr>
        <p:sp>
          <p:nvSpPr>
            <p:cNvPr name="Freeform 4" id="4"/>
            <p:cNvSpPr/>
            <p:nvPr/>
          </p:nvSpPr>
          <p:spPr>
            <a:xfrm flipH="false" flipV="false" rot="0">
              <a:off x="0" y="0"/>
              <a:ext cx="669582" cy="2709333"/>
            </a:xfrm>
            <a:custGeom>
              <a:avLst/>
              <a:gdLst/>
              <a:ahLst/>
              <a:cxnLst/>
              <a:rect r="r" b="b" t="t" l="l"/>
              <a:pathLst>
                <a:path h="2709333" w="669582">
                  <a:moveTo>
                    <a:pt x="0" y="0"/>
                  </a:moveTo>
                  <a:lnTo>
                    <a:pt x="669582" y="0"/>
                  </a:lnTo>
                  <a:lnTo>
                    <a:pt x="669582" y="2709333"/>
                  </a:lnTo>
                  <a:lnTo>
                    <a:pt x="0" y="2709333"/>
                  </a:lnTo>
                  <a:close/>
                </a:path>
              </a:pathLst>
            </a:custGeom>
            <a:solidFill>
              <a:srgbClr val="59B1C6"/>
            </a:solidFill>
          </p:spPr>
        </p:sp>
        <p:sp>
          <p:nvSpPr>
            <p:cNvPr name="TextBox 5" id="5"/>
            <p:cNvSpPr txBox="true"/>
            <p:nvPr/>
          </p:nvSpPr>
          <p:spPr>
            <a:xfrm>
              <a:off x="0" y="-66675"/>
              <a:ext cx="669582" cy="2776008"/>
            </a:xfrm>
            <a:prstGeom prst="rect">
              <a:avLst/>
            </a:prstGeom>
          </p:spPr>
          <p:txBody>
            <a:bodyPr anchor="ctr" rtlCol="false" tIns="50800" lIns="50800" bIns="50800" rIns="50800"/>
            <a:lstStyle/>
            <a:p>
              <a:pPr algn="ctr">
                <a:lnSpc>
                  <a:spcPts val="2914"/>
                </a:lnSpc>
              </a:pPr>
            </a:p>
          </p:txBody>
        </p:sp>
      </p:grpSp>
      <p:sp>
        <p:nvSpPr>
          <p:cNvPr name="TextBox 6" id="6"/>
          <p:cNvSpPr txBox="true"/>
          <p:nvPr/>
        </p:nvSpPr>
        <p:spPr>
          <a:xfrm rot="0">
            <a:off x="5089314" y="200642"/>
            <a:ext cx="7035313" cy="1028700"/>
          </a:xfrm>
          <a:prstGeom prst="rect">
            <a:avLst/>
          </a:prstGeom>
        </p:spPr>
        <p:txBody>
          <a:bodyPr anchor="t" rtlCol="false" tIns="0" lIns="0" bIns="0" rIns="0">
            <a:spAutoFit/>
          </a:bodyPr>
          <a:lstStyle/>
          <a:p>
            <a:pPr algn="ctr" marL="0" indent="0" lvl="0">
              <a:lnSpc>
                <a:spcPts val="7680"/>
              </a:lnSpc>
              <a:spcBef>
                <a:spcPct val="0"/>
              </a:spcBef>
            </a:pPr>
            <a:r>
              <a:rPr lang="en-US" b="true" sz="6400">
                <a:solidFill>
                  <a:srgbClr val="5492B1"/>
                </a:solidFill>
                <a:latin typeface="Poppins Semi-Bold"/>
                <a:ea typeface="Poppins Semi-Bold"/>
                <a:cs typeface="Poppins Semi-Bold"/>
                <a:sym typeface="Poppins Semi-Bold"/>
              </a:rPr>
              <a:t>Output Parsers</a:t>
            </a:r>
          </a:p>
        </p:txBody>
      </p:sp>
      <p:sp>
        <p:nvSpPr>
          <p:cNvPr name="TextBox 7" id="7"/>
          <p:cNvSpPr txBox="true"/>
          <p:nvPr/>
        </p:nvSpPr>
        <p:spPr>
          <a:xfrm rot="0">
            <a:off x="7645569" y="1998714"/>
            <a:ext cx="4875229" cy="790805"/>
          </a:xfrm>
          <a:prstGeom prst="rect">
            <a:avLst/>
          </a:prstGeom>
        </p:spPr>
        <p:txBody>
          <a:bodyPr anchor="t" rtlCol="false" tIns="0" lIns="0" bIns="0" rIns="0">
            <a:spAutoFit/>
          </a:bodyPr>
          <a:lstStyle/>
          <a:p>
            <a:pPr algn="l">
              <a:lnSpc>
                <a:spcPts val="2914"/>
              </a:lnSpc>
            </a:pPr>
            <a:r>
              <a:rPr lang="en-US" sz="2081" b="true">
                <a:solidFill>
                  <a:srgbClr val="000000"/>
                </a:solidFill>
                <a:latin typeface="Poppins Bold"/>
                <a:ea typeface="Poppins Bold"/>
                <a:cs typeface="Poppins Bold"/>
                <a:sym typeface="Poppins Bold"/>
              </a:rPr>
              <a:t>    Limitations:</a:t>
            </a:r>
          </a:p>
          <a:p>
            <a:pPr algn="l" marL="518160" indent="-259080" lvl="1">
              <a:lnSpc>
                <a:spcPts val="3359"/>
              </a:lnSpc>
              <a:buFont typeface="Arial"/>
              <a:buChar char="•"/>
            </a:pPr>
            <a:r>
              <a:rPr lang="en-US" sz="2400">
                <a:solidFill>
                  <a:srgbClr val="000000"/>
                </a:solidFill>
                <a:latin typeface="Poppins"/>
                <a:ea typeface="Poppins"/>
                <a:cs typeface="Poppins"/>
                <a:sym typeface="Poppins"/>
              </a:rPr>
              <a:t>No structure or Validation</a:t>
            </a:r>
          </a:p>
        </p:txBody>
      </p:sp>
      <p:sp>
        <p:nvSpPr>
          <p:cNvPr name="TextBox 8" id="8"/>
          <p:cNvSpPr txBox="true"/>
          <p:nvPr/>
        </p:nvSpPr>
        <p:spPr>
          <a:xfrm rot="0">
            <a:off x="1152525" y="4147554"/>
            <a:ext cx="5347390" cy="1263015"/>
          </a:xfrm>
          <a:prstGeom prst="rect">
            <a:avLst/>
          </a:prstGeom>
        </p:spPr>
        <p:txBody>
          <a:bodyPr anchor="t" rtlCol="false" tIns="0" lIns="0" bIns="0" rIns="0">
            <a:spAutoFit/>
          </a:bodyPr>
          <a:lstStyle/>
          <a:p>
            <a:pPr algn="l">
              <a:lnSpc>
                <a:spcPts val="3359"/>
              </a:lnSpc>
            </a:pPr>
            <a:r>
              <a:rPr lang="en-US" sz="2400" b="true">
                <a:solidFill>
                  <a:srgbClr val="000000"/>
                </a:solidFill>
                <a:latin typeface="Poppins Bold"/>
                <a:ea typeface="Poppins Bold"/>
                <a:cs typeface="Poppins Bold"/>
                <a:sym typeface="Poppins Bold"/>
              </a:rPr>
              <a:t>    Benefits:</a:t>
            </a:r>
          </a:p>
          <a:p>
            <a:pPr algn="l" marL="518160" indent="-259080" lvl="1">
              <a:lnSpc>
                <a:spcPts val="3359"/>
              </a:lnSpc>
              <a:buFont typeface="Arial"/>
              <a:buChar char="•"/>
            </a:pPr>
            <a:r>
              <a:rPr lang="en-US" sz="2400">
                <a:solidFill>
                  <a:srgbClr val="000000"/>
                </a:solidFill>
                <a:latin typeface="Poppins"/>
                <a:ea typeface="Poppins"/>
                <a:cs typeface="Poppins"/>
                <a:sym typeface="Poppins"/>
              </a:rPr>
              <a:t>Enforce predefined Structure</a:t>
            </a:r>
          </a:p>
          <a:p>
            <a:pPr algn="l" marL="518160" indent="-259080" lvl="1">
              <a:lnSpc>
                <a:spcPts val="3359"/>
              </a:lnSpc>
              <a:buFont typeface="Arial"/>
              <a:buChar char="•"/>
            </a:pPr>
            <a:r>
              <a:rPr lang="en-US" sz="2400">
                <a:solidFill>
                  <a:srgbClr val="000000"/>
                </a:solidFill>
                <a:latin typeface="Poppins"/>
                <a:ea typeface="Poppins"/>
                <a:cs typeface="Poppins"/>
                <a:sym typeface="Poppins"/>
              </a:rPr>
              <a:t>Reduce ambiguity in response</a:t>
            </a:r>
          </a:p>
        </p:txBody>
      </p:sp>
      <p:sp>
        <p:nvSpPr>
          <p:cNvPr name="TextBox 9" id="9"/>
          <p:cNvSpPr txBox="true"/>
          <p:nvPr/>
        </p:nvSpPr>
        <p:spPr>
          <a:xfrm rot="0">
            <a:off x="1152525" y="3518904"/>
            <a:ext cx="6345570" cy="485775"/>
          </a:xfrm>
          <a:prstGeom prst="rect">
            <a:avLst/>
          </a:prstGeom>
        </p:spPr>
        <p:txBody>
          <a:bodyPr anchor="t" rtlCol="false" tIns="0" lIns="0" bIns="0" rIns="0">
            <a:spAutoFit/>
          </a:bodyPr>
          <a:lstStyle/>
          <a:p>
            <a:pPr algn="just" marL="0" indent="0" lvl="0">
              <a:lnSpc>
                <a:spcPts val="3600"/>
              </a:lnSpc>
              <a:spcBef>
                <a:spcPct val="0"/>
              </a:spcBef>
            </a:pPr>
            <a:r>
              <a:rPr lang="en-US" b="true" sz="3000">
                <a:solidFill>
                  <a:srgbClr val="5492B1"/>
                </a:solidFill>
                <a:latin typeface="Poppins Semi-Bold"/>
                <a:ea typeface="Poppins Semi-Bold"/>
                <a:cs typeface="Poppins Semi-Bold"/>
                <a:sym typeface="Poppins Semi-Bold"/>
              </a:rPr>
              <a:t>Structured Output Parser</a:t>
            </a:r>
          </a:p>
        </p:txBody>
      </p:sp>
      <p:sp>
        <p:nvSpPr>
          <p:cNvPr name="TextBox 10" id="10"/>
          <p:cNvSpPr txBox="true"/>
          <p:nvPr/>
        </p:nvSpPr>
        <p:spPr>
          <a:xfrm rot="0">
            <a:off x="7645569" y="4147554"/>
            <a:ext cx="5403711" cy="1263015"/>
          </a:xfrm>
          <a:prstGeom prst="rect">
            <a:avLst/>
          </a:prstGeom>
        </p:spPr>
        <p:txBody>
          <a:bodyPr anchor="t" rtlCol="false" tIns="0" lIns="0" bIns="0" rIns="0">
            <a:spAutoFit/>
          </a:bodyPr>
          <a:lstStyle/>
          <a:p>
            <a:pPr algn="l">
              <a:lnSpc>
                <a:spcPts val="3359"/>
              </a:lnSpc>
            </a:pPr>
            <a:r>
              <a:rPr lang="en-US" sz="2400" b="true">
                <a:solidFill>
                  <a:srgbClr val="000000"/>
                </a:solidFill>
                <a:latin typeface="Poppins Bold"/>
                <a:ea typeface="Poppins Bold"/>
                <a:cs typeface="Poppins Bold"/>
                <a:sym typeface="Poppins Bold"/>
              </a:rPr>
              <a:t>    Limitations:</a:t>
            </a:r>
          </a:p>
          <a:p>
            <a:pPr algn="l" marL="518160" indent="-259080" lvl="1">
              <a:lnSpc>
                <a:spcPts val="3359"/>
              </a:lnSpc>
              <a:buFont typeface="Arial"/>
              <a:buChar char="•"/>
            </a:pPr>
            <a:r>
              <a:rPr lang="en-US" sz="2400">
                <a:solidFill>
                  <a:srgbClr val="000000"/>
                </a:solidFill>
                <a:latin typeface="Poppins"/>
                <a:ea typeface="Poppins"/>
                <a:cs typeface="Poppins"/>
                <a:sym typeface="Poppins"/>
              </a:rPr>
              <a:t>LLM may still violate structure</a:t>
            </a:r>
          </a:p>
          <a:p>
            <a:pPr algn="l" marL="518160" indent="-259080" lvl="1">
              <a:lnSpc>
                <a:spcPts val="3359"/>
              </a:lnSpc>
              <a:buFont typeface="Arial"/>
              <a:buChar char="•"/>
            </a:pPr>
            <a:r>
              <a:rPr lang="en-US" sz="2400">
                <a:solidFill>
                  <a:srgbClr val="000000"/>
                </a:solidFill>
                <a:latin typeface="Poppins"/>
                <a:ea typeface="Poppins"/>
                <a:cs typeface="Poppins"/>
                <a:sym typeface="Poppins"/>
              </a:rPr>
              <a:t>Limited type validation</a:t>
            </a:r>
          </a:p>
          <a:p>
            <a:pPr algn="l">
              <a:lnSpc>
                <a:spcPts val="3359"/>
              </a:lnSpc>
            </a:pPr>
          </a:p>
        </p:txBody>
      </p:sp>
      <p:sp>
        <p:nvSpPr>
          <p:cNvPr name="TextBox 11" id="11"/>
          <p:cNvSpPr txBox="true"/>
          <p:nvPr/>
        </p:nvSpPr>
        <p:spPr>
          <a:xfrm rot="0">
            <a:off x="1152525" y="6410694"/>
            <a:ext cx="4689236" cy="1263015"/>
          </a:xfrm>
          <a:prstGeom prst="rect">
            <a:avLst/>
          </a:prstGeom>
        </p:spPr>
        <p:txBody>
          <a:bodyPr anchor="t" rtlCol="false" tIns="0" lIns="0" bIns="0" rIns="0">
            <a:spAutoFit/>
          </a:bodyPr>
          <a:lstStyle/>
          <a:p>
            <a:pPr algn="l">
              <a:lnSpc>
                <a:spcPts val="3359"/>
              </a:lnSpc>
            </a:pPr>
            <a:r>
              <a:rPr lang="en-US" sz="2400" b="true">
                <a:solidFill>
                  <a:srgbClr val="000000"/>
                </a:solidFill>
                <a:latin typeface="Poppins Bold"/>
                <a:ea typeface="Poppins Bold"/>
                <a:cs typeface="Poppins Bold"/>
                <a:sym typeface="Poppins Bold"/>
              </a:rPr>
              <a:t>    Benefits:</a:t>
            </a:r>
          </a:p>
          <a:p>
            <a:pPr algn="l" marL="518160" indent="-259080" lvl="1">
              <a:lnSpc>
                <a:spcPts val="3359"/>
              </a:lnSpc>
              <a:buFont typeface="Arial"/>
              <a:buChar char="•"/>
            </a:pPr>
            <a:r>
              <a:rPr lang="en-US" sz="2400">
                <a:solidFill>
                  <a:srgbClr val="000000"/>
                </a:solidFill>
                <a:latin typeface="Poppins"/>
                <a:ea typeface="Poppins"/>
                <a:cs typeface="Poppins"/>
                <a:sym typeface="Poppins"/>
              </a:rPr>
              <a:t>Machine readable format</a:t>
            </a:r>
          </a:p>
          <a:p>
            <a:pPr algn="l" marL="518160" indent="-259080" lvl="1">
              <a:lnSpc>
                <a:spcPts val="3359"/>
              </a:lnSpc>
              <a:buFont typeface="Arial"/>
              <a:buChar char="•"/>
            </a:pPr>
            <a:r>
              <a:rPr lang="en-US" sz="2400">
                <a:solidFill>
                  <a:srgbClr val="000000"/>
                </a:solidFill>
                <a:latin typeface="Poppins"/>
                <a:ea typeface="Poppins"/>
                <a:cs typeface="Poppins"/>
                <a:sym typeface="Poppins"/>
              </a:rPr>
              <a:t>Easy integration with APIs</a:t>
            </a:r>
          </a:p>
        </p:txBody>
      </p:sp>
      <p:sp>
        <p:nvSpPr>
          <p:cNvPr name="TextBox 12" id="12"/>
          <p:cNvSpPr txBox="true"/>
          <p:nvPr/>
        </p:nvSpPr>
        <p:spPr>
          <a:xfrm rot="0">
            <a:off x="1152525" y="5782044"/>
            <a:ext cx="4689236" cy="485775"/>
          </a:xfrm>
          <a:prstGeom prst="rect">
            <a:avLst/>
          </a:prstGeom>
        </p:spPr>
        <p:txBody>
          <a:bodyPr anchor="t" rtlCol="false" tIns="0" lIns="0" bIns="0" rIns="0">
            <a:spAutoFit/>
          </a:bodyPr>
          <a:lstStyle/>
          <a:p>
            <a:pPr algn="just" marL="0" indent="0" lvl="0">
              <a:lnSpc>
                <a:spcPts val="3600"/>
              </a:lnSpc>
              <a:spcBef>
                <a:spcPct val="0"/>
              </a:spcBef>
            </a:pPr>
            <a:r>
              <a:rPr lang="en-US" b="true" sz="3000">
                <a:solidFill>
                  <a:srgbClr val="5492B1"/>
                </a:solidFill>
                <a:latin typeface="Poppins Semi-Bold"/>
                <a:ea typeface="Poppins Semi-Bold"/>
                <a:cs typeface="Poppins Semi-Bold"/>
                <a:sym typeface="Poppins Semi-Bold"/>
              </a:rPr>
              <a:t>Json Output parser</a:t>
            </a:r>
          </a:p>
        </p:txBody>
      </p:sp>
      <p:sp>
        <p:nvSpPr>
          <p:cNvPr name="TextBox 13" id="13"/>
          <p:cNvSpPr txBox="true"/>
          <p:nvPr/>
        </p:nvSpPr>
        <p:spPr>
          <a:xfrm rot="0">
            <a:off x="7645569" y="6410694"/>
            <a:ext cx="5756033" cy="1682115"/>
          </a:xfrm>
          <a:prstGeom prst="rect">
            <a:avLst/>
          </a:prstGeom>
        </p:spPr>
        <p:txBody>
          <a:bodyPr anchor="t" rtlCol="false" tIns="0" lIns="0" bIns="0" rIns="0">
            <a:spAutoFit/>
          </a:bodyPr>
          <a:lstStyle/>
          <a:p>
            <a:pPr algn="l">
              <a:lnSpc>
                <a:spcPts val="3359"/>
              </a:lnSpc>
            </a:pPr>
            <a:r>
              <a:rPr lang="en-US" sz="2400" b="true">
                <a:solidFill>
                  <a:srgbClr val="000000"/>
                </a:solidFill>
                <a:latin typeface="Poppins Bold"/>
                <a:ea typeface="Poppins Bold"/>
                <a:cs typeface="Poppins Bold"/>
                <a:sym typeface="Poppins Bold"/>
              </a:rPr>
              <a:t>    Limitations:</a:t>
            </a:r>
          </a:p>
          <a:p>
            <a:pPr algn="l" marL="518160" indent="-259080" lvl="1">
              <a:lnSpc>
                <a:spcPts val="3359"/>
              </a:lnSpc>
              <a:buFont typeface="Arial"/>
              <a:buChar char="•"/>
            </a:pPr>
            <a:r>
              <a:rPr lang="en-US" sz="2400">
                <a:solidFill>
                  <a:srgbClr val="000000"/>
                </a:solidFill>
                <a:latin typeface="Poppins"/>
                <a:ea typeface="Poppins"/>
                <a:cs typeface="Poppins"/>
                <a:sym typeface="Poppins"/>
              </a:rPr>
              <a:t>Requires prompt discipline</a:t>
            </a:r>
          </a:p>
          <a:p>
            <a:pPr algn="l" marL="518160" indent="-259080" lvl="1">
              <a:lnSpc>
                <a:spcPts val="3359"/>
              </a:lnSpc>
              <a:buFont typeface="Arial"/>
              <a:buChar char="•"/>
            </a:pPr>
            <a:r>
              <a:rPr lang="en-US" sz="2400">
                <a:solidFill>
                  <a:srgbClr val="000000"/>
                </a:solidFill>
                <a:latin typeface="Poppins"/>
                <a:ea typeface="Poppins"/>
                <a:cs typeface="Poppins"/>
                <a:sym typeface="Poppins"/>
              </a:rPr>
              <a:t>LLM may produce invalid JSON</a:t>
            </a:r>
          </a:p>
          <a:p>
            <a:pPr algn="l">
              <a:lnSpc>
                <a:spcPts val="3359"/>
              </a:lnSpc>
            </a:pPr>
          </a:p>
        </p:txBody>
      </p:sp>
      <p:sp>
        <p:nvSpPr>
          <p:cNvPr name="TextBox 14" id="14"/>
          <p:cNvSpPr txBox="true"/>
          <p:nvPr/>
        </p:nvSpPr>
        <p:spPr>
          <a:xfrm rot="0">
            <a:off x="1152525" y="1370064"/>
            <a:ext cx="5112509" cy="485775"/>
          </a:xfrm>
          <a:prstGeom prst="rect">
            <a:avLst/>
          </a:prstGeom>
        </p:spPr>
        <p:txBody>
          <a:bodyPr anchor="t" rtlCol="false" tIns="0" lIns="0" bIns="0" rIns="0">
            <a:spAutoFit/>
          </a:bodyPr>
          <a:lstStyle/>
          <a:p>
            <a:pPr algn="just" marL="0" indent="0" lvl="0">
              <a:lnSpc>
                <a:spcPts val="3600"/>
              </a:lnSpc>
              <a:spcBef>
                <a:spcPct val="0"/>
              </a:spcBef>
            </a:pPr>
            <a:r>
              <a:rPr lang="en-US" b="true" sz="3000">
                <a:solidFill>
                  <a:srgbClr val="5492B1"/>
                </a:solidFill>
                <a:latin typeface="Poppins Semi-Bold"/>
                <a:ea typeface="Poppins Semi-Bold"/>
                <a:cs typeface="Poppins Semi-Bold"/>
                <a:sym typeface="Poppins Semi-Bold"/>
              </a:rPr>
              <a:t>String output parser</a:t>
            </a:r>
          </a:p>
        </p:txBody>
      </p:sp>
      <p:sp>
        <p:nvSpPr>
          <p:cNvPr name="TextBox 15" id="15"/>
          <p:cNvSpPr txBox="true"/>
          <p:nvPr/>
        </p:nvSpPr>
        <p:spPr>
          <a:xfrm rot="0">
            <a:off x="1152525" y="8559534"/>
            <a:ext cx="4689236" cy="1263015"/>
          </a:xfrm>
          <a:prstGeom prst="rect">
            <a:avLst/>
          </a:prstGeom>
        </p:spPr>
        <p:txBody>
          <a:bodyPr anchor="t" rtlCol="false" tIns="0" lIns="0" bIns="0" rIns="0">
            <a:spAutoFit/>
          </a:bodyPr>
          <a:lstStyle/>
          <a:p>
            <a:pPr algn="l">
              <a:lnSpc>
                <a:spcPts val="3359"/>
              </a:lnSpc>
            </a:pPr>
            <a:r>
              <a:rPr lang="en-US" sz="2400" b="true">
                <a:solidFill>
                  <a:srgbClr val="000000"/>
                </a:solidFill>
                <a:latin typeface="Poppins Bold"/>
                <a:ea typeface="Poppins Bold"/>
                <a:cs typeface="Poppins Bold"/>
                <a:sym typeface="Poppins Bold"/>
              </a:rPr>
              <a:t>    Benefits:</a:t>
            </a:r>
          </a:p>
          <a:p>
            <a:pPr algn="l" marL="518160" indent="-259080" lvl="1">
              <a:lnSpc>
                <a:spcPts val="3359"/>
              </a:lnSpc>
              <a:buFont typeface="Arial"/>
              <a:buChar char="•"/>
            </a:pPr>
            <a:r>
              <a:rPr lang="en-US" sz="2400">
                <a:solidFill>
                  <a:srgbClr val="000000"/>
                </a:solidFill>
                <a:latin typeface="Poppins"/>
                <a:ea typeface="Poppins"/>
                <a:cs typeface="Poppins"/>
                <a:sym typeface="Poppins"/>
              </a:rPr>
              <a:t>Strong type validation</a:t>
            </a:r>
          </a:p>
          <a:p>
            <a:pPr algn="l" marL="518160" indent="-259080" lvl="1">
              <a:lnSpc>
                <a:spcPts val="3359"/>
              </a:lnSpc>
              <a:buFont typeface="Arial"/>
              <a:buChar char="•"/>
            </a:pPr>
            <a:r>
              <a:rPr lang="en-US" sz="2400">
                <a:solidFill>
                  <a:srgbClr val="000000"/>
                </a:solidFill>
                <a:latin typeface="Poppins"/>
                <a:ea typeface="Poppins"/>
                <a:cs typeface="Poppins"/>
                <a:sym typeface="Poppins"/>
              </a:rPr>
              <a:t>Automatic error detection</a:t>
            </a:r>
          </a:p>
        </p:txBody>
      </p:sp>
      <p:sp>
        <p:nvSpPr>
          <p:cNvPr name="TextBox 16" id="16"/>
          <p:cNvSpPr txBox="true"/>
          <p:nvPr/>
        </p:nvSpPr>
        <p:spPr>
          <a:xfrm rot="0">
            <a:off x="1152525" y="7854684"/>
            <a:ext cx="4689236" cy="485775"/>
          </a:xfrm>
          <a:prstGeom prst="rect">
            <a:avLst/>
          </a:prstGeom>
        </p:spPr>
        <p:txBody>
          <a:bodyPr anchor="t" rtlCol="false" tIns="0" lIns="0" bIns="0" rIns="0">
            <a:spAutoFit/>
          </a:bodyPr>
          <a:lstStyle/>
          <a:p>
            <a:pPr algn="just" marL="0" indent="0" lvl="0">
              <a:lnSpc>
                <a:spcPts val="3600"/>
              </a:lnSpc>
              <a:spcBef>
                <a:spcPct val="0"/>
              </a:spcBef>
            </a:pPr>
            <a:r>
              <a:rPr lang="en-US" b="true" sz="3000">
                <a:solidFill>
                  <a:srgbClr val="5492B1"/>
                </a:solidFill>
                <a:latin typeface="Poppins Semi-Bold"/>
                <a:ea typeface="Poppins Semi-Bold"/>
                <a:cs typeface="Poppins Semi-Bold"/>
                <a:sym typeface="Poppins Semi-Bold"/>
              </a:rPr>
              <a:t>Pydantic Output parser</a:t>
            </a:r>
          </a:p>
        </p:txBody>
      </p:sp>
      <p:sp>
        <p:nvSpPr>
          <p:cNvPr name="TextBox 17" id="17"/>
          <p:cNvSpPr txBox="true"/>
          <p:nvPr/>
        </p:nvSpPr>
        <p:spPr>
          <a:xfrm rot="0">
            <a:off x="7645569" y="8593455"/>
            <a:ext cx="5756033" cy="1263015"/>
          </a:xfrm>
          <a:prstGeom prst="rect">
            <a:avLst/>
          </a:prstGeom>
        </p:spPr>
        <p:txBody>
          <a:bodyPr anchor="t" rtlCol="false" tIns="0" lIns="0" bIns="0" rIns="0">
            <a:spAutoFit/>
          </a:bodyPr>
          <a:lstStyle/>
          <a:p>
            <a:pPr algn="l">
              <a:lnSpc>
                <a:spcPts val="3359"/>
              </a:lnSpc>
            </a:pPr>
            <a:r>
              <a:rPr lang="en-US" sz="2400" b="true">
                <a:solidFill>
                  <a:srgbClr val="000000"/>
                </a:solidFill>
                <a:latin typeface="Poppins Bold"/>
                <a:ea typeface="Poppins Bold"/>
                <a:cs typeface="Poppins Bold"/>
                <a:sym typeface="Poppins Bold"/>
              </a:rPr>
              <a:t>    Limitations:</a:t>
            </a:r>
          </a:p>
          <a:p>
            <a:pPr algn="l" marL="518160" indent="-259080" lvl="1">
              <a:lnSpc>
                <a:spcPts val="3359"/>
              </a:lnSpc>
              <a:buFont typeface="Arial"/>
              <a:buChar char="•"/>
            </a:pPr>
            <a:r>
              <a:rPr lang="en-US" sz="2400">
                <a:solidFill>
                  <a:srgbClr val="000000"/>
                </a:solidFill>
                <a:latin typeface="Poppins"/>
                <a:ea typeface="Poppins"/>
                <a:cs typeface="Poppins"/>
                <a:sym typeface="Poppins"/>
              </a:rPr>
              <a:t>Less flexible for free-text output</a:t>
            </a:r>
          </a:p>
          <a:p>
            <a:pPr algn="l">
              <a:lnSpc>
                <a:spcPts val="3359"/>
              </a:lnSpc>
            </a:pPr>
          </a:p>
        </p:txBody>
      </p:sp>
    </p:spTree>
  </p:cSld>
  <p:clrMapOvr>
    <a:masterClrMapping/>
  </p:clrMapOvr>
  <p:transition spd="slow">
    <p:cover dir="l"/>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5492B1"/>
        </a:solidFill>
      </p:bgPr>
    </p:bg>
    <p:spTree>
      <p:nvGrpSpPr>
        <p:cNvPr id="1" name=""/>
        <p:cNvGrpSpPr/>
        <p:nvPr/>
      </p:nvGrpSpPr>
      <p:grpSpPr>
        <a:xfrm>
          <a:off x="0" y="0"/>
          <a:ext cx="0" cy="0"/>
          <a:chOff x="0" y="0"/>
          <a:chExt cx="0" cy="0"/>
        </a:xfrm>
      </p:grpSpPr>
      <p:sp>
        <p:nvSpPr>
          <p:cNvPr name="TextBox 2" id="2"/>
          <p:cNvSpPr txBox="true"/>
          <p:nvPr/>
        </p:nvSpPr>
        <p:spPr>
          <a:xfrm rot="0">
            <a:off x="1560121" y="2384268"/>
            <a:ext cx="15167758" cy="5404164"/>
          </a:xfrm>
          <a:prstGeom prst="rect">
            <a:avLst/>
          </a:prstGeom>
        </p:spPr>
        <p:txBody>
          <a:bodyPr anchor="t" rtlCol="false" tIns="0" lIns="0" bIns="0" rIns="0">
            <a:spAutoFit/>
          </a:bodyPr>
          <a:lstStyle/>
          <a:p>
            <a:pPr algn="ctr">
              <a:lnSpc>
                <a:spcPts val="13903"/>
              </a:lnSpc>
            </a:pPr>
            <a:r>
              <a:rPr lang="en-US" sz="11585" b="true">
                <a:solidFill>
                  <a:srgbClr val="FFFFFF"/>
                </a:solidFill>
                <a:latin typeface="Poppins Semi-Bold"/>
                <a:ea typeface="Poppins Semi-Bold"/>
                <a:cs typeface="Poppins Semi-Bold"/>
                <a:sym typeface="Poppins Semi-Bold"/>
              </a:rPr>
              <a:t>Chains </a:t>
            </a:r>
          </a:p>
          <a:p>
            <a:pPr algn="ctr">
              <a:lnSpc>
                <a:spcPts val="13903"/>
              </a:lnSpc>
            </a:pPr>
            <a:r>
              <a:rPr lang="en-US" sz="11585" b="true">
                <a:solidFill>
                  <a:srgbClr val="FFFFFF"/>
                </a:solidFill>
                <a:latin typeface="Poppins Semi-Bold"/>
                <a:ea typeface="Poppins Semi-Bold"/>
                <a:cs typeface="Poppins Semi-Bold"/>
                <a:sym typeface="Poppins Semi-Bold"/>
              </a:rPr>
              <a:t>and </a:t>
            </a:r>
          </a:p>
          <a:p>
            <a:pPr algn="ctr" marL="0" indent="0" lvl="0">
              <a:lnSpc>
                <a:spcPts val="13903"/>
              </a:lnSpc>
            </a:pPr>
            <a:r>
              <a:rPr lang="en-US" b="true" sz="11585">
                <a:solidFill>
                  <a:srgbClr val="FFFFFF"/>
                </a:solidFill>
                <a:latin typeface="Poppins Semi-Bold"/>
                <a:ea typeface="Poppins Semi-Bold"/>
                <a:cs typeface="Poppins Semi-Bold"/>
                <a:sym typeface="Poppins Semi-Bold"/>
              </a:rPr>
              <a:t>Runnables</a:t>
            </a:r>
          </a:p>
        </p:txBody>
      </p:sp>
      <p:sp>
        <p:nvSpPr>
          <p:cNvPr name="Freeform 3" id="3"/>
          <p:cNvSpPr/>
          <p:nvPr/>
        </p:nvSpPr>
        <p:spPr>
          <a:xfrm flipH="true" flipV="false" rot="0">
            <a:off x="207960" y="5780054"/>
            <a:ext cx="3552570" cy="4266187"/>
          </a:xfrm>
          <a:custGeom>
            <a:avLst/>
            <a:gdLst/>
            <a:ahLst/>
            <a:cxnLst/>
            <a:rect r="r" b="b" t="t" l="l"/>
            <a:pathLst>
              <a:path h="4266187" w="3552570">
                <a:moveTo>
                  <a:pt x="3552570" y="0"/>
                </a:moveTo>
                <a:lnTo>
                  <a:pt x="0" y="0"/>
                </a:lnTo>
                <a:lnTo>
                  <a:pt x="0" y="4266186"/>
                </a:lnTo>
                <a:lnTo>
                  <a:pt x="3552570" y="4266186"/>
                </a:lnTo>
                <a:lnTo>
                  <a:pt x="355257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364216" y="-437745"/>
            <a:ext cx="10403246" cy="3650594"/>
          </a:xfrm>
          <a:custGeom>
            <a:avLst/>
            <a:gdLst/>
            <a:ahLst/>
            <a:cxnLst/>
            <a:rect r="r" b="b" t="t" l="l"/>
            <a:pathLst>
              <a:path h="3650594" w="10403246">
                <a:moveTo>
                  <a:pt x="0" y="0"/>
                </a:moveTo>
                <a:lnTo>
                  <a:pt x="10403246" y="0"/>
                </a:lnTo>
                <a:lnTo>
                  <a:pt x="10403246" y="3650594"/>
                </a:lnTo>
                <a:lnTo>
                  <a:pt x="0" y="36505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transition spd="slow">
    <p:cover dir="l"/>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5492B1"/>
        </a:solidFill>
      </p:bgPr>
    </p:bg>
    <p:spTree>
      <p:nvGrpSpPr>
        <p:cNvPr id="1" name=""/>
        <p:cNvGrpSpPr/>
        <p:nvPr/>
      </p:nvGrpSpPr>
      <p:grpSpPr>
        <a:xfrm>
          <a:off x="0" y="0"/>
          <a:ext cx="0" cy="0"/>
          <a:chOff x="0" y="0"/>
          <a:chExt cx="0" cy="0"/>
        </a:xfrm>
      </p:grpSpPr>
      <p:sp>
        <p:nvSpPr>
          <p:cNvPr name="Freeform 2" id="2"/>
          <p:cNvSpPr/>
          <p:nvPr/>
        </p:nvSpPr>
        <p:spPr>
          <a:xfrm flipH="false" flipV="false" rot="0">
            <a:off x="11364216" y="-437745"/>
            <a:ext cx="10403246" cy="3650594"/>
          </a:xfrm>
          <a:custGeom>
            <a:avLst/>
            <a:gdLst/>
            <a:ahLst/>
            <a:cxnLst/>
            <a:rect r="r" b="b" t="t" l="l"/>
            <a:pathLst>
              <a:path h="3650594" w="10403246">
                <a:moveTo>
                  <a:pt x="0" y="0"/>
                </a:moveTo>
                <a:lnTo>
                  <a:pt x="10403246" y="0"/>
                </a:lnTo>
                <a:lnTo>
                  <a:pt x="10403246" y="3650594"/>
                </a:lnTo>
                <a:lnTo>
                  <a:pt x="0" y="36505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318238" y="5519818"/>
            <a:ext cx="3969762" cy="4767182"/>
          </a:xfrm>
          <a:custGeom>
            <a:avLst/>
            <a:gdLst/>
            <a:ahLst/>
            <a:cxnLst/>
            <a:rect r="r" b="b" t="t" l="l"/>
            <a:pathLst>
              <a:path h="4767182" w="3969762">
                <a:moveTo>
                  <a:pt x="0" y="0"/>
                </a:moveTo>
                <a:lnTo>
                  <a:pt x="3969762" y="0"/>
                </a:lnTo>
                <a:lnTo>
                  <a:pt x="3969762" y="4767182"/>
                </a:lnTo>
                <a:lnTo>
                  <a:pt x="0" y="47671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878706" y="2732899"/>
            <a:ext cx="6663524" cy="5670326"/>
          </a:xfrm>
          <a:custGeom>
            <a:avLst/>
            <a:gdLst/>
            <a:ahLst/>
            <a:cxnLst/>
            <a:rect r="r" b="b" t="t" l="l"/>
            <a:pathLst>
              <a:path h="5670326" w="6663524">
                <a:moveTo>
                  <a:pt x="0" y="0"/>
                </a:moveTo>
                <a:lnTo>
                  <a:pt x="6663523" y="0"/>
                </a:lnTo>
                <a:lnTo>
                  <a:pt x="6663523" y="5670326"/>
                </a:lnTo>
                <a:lnTo>
                  <a:pt x="0" y="5670326"/>
                </a:lnTo>
                <a:lnTo>
                  <a:pt x="0" y="0"/>
                </a:lnTo>
                <a:close/>
              </a:path>
            </a:pathLst>
          </a:custGeom>
          <a:blipFill>
            <a:blip r:embed="rId6"/>
            <a:stretch>
              <a:fillRect l="0" t="-15678" r="-10476" b="0"/>
            </a:stretch>
          </a:blipFill>
        </p:spPr>
      </p:sp>
      <p:sp>
        <p:nvSpPr>
          <p:cNvPr name="TextBox 5" id="5"/>
          <p:cNvSpPr txBox="true"/>
          <p:nvPr/>
        </p:nvSpPr>
        <p:spPr>
          <a:xfrm rot="0">
            <a:off x="1776285" y="2546538"/>
            <a:ext cx="8882262" cy="6643752"/>
          </a:xfrm>
          <a:prstGeom prst="rect">
            <a:avLst/>
          </a:prstGeom>
        </p:spPr>
        <p:txBody>
          <a:bodyPr anchor="t" rtlCol="false" tIns="0" lIns="0" bIns="0" rIns="0">
            <a:spAutoFit/>
          </a:bodyPr>
          <a:lstStyle/>
          <a:p>
            <a:pPr algn="l">
              <a:lnSpc>
                <a:spcPts val="8083"/>
              </a:lnSpc>
            </a:pPr>
            <a:r>
              <a:rPr lang="en-US" sz="4299" b="true">
                <a:solidFill>
                  <a:srgbClr val="FFFFFF"/>
                </a:solidFill>
                <a:latin typeface="Poppins Bold"/>
                <a:ea typeface="Poppins Bold"/>
                <a:cs typeface="Poppins Bold"/>
                <a:sym typeface="Poppins Bold"/>
              </a:rPr>
              <a:t>The Problem Statement</a:t>
            </a:r>
          </a:p>
          <a:p>
            <a:pPr algn="l">
              <a:lnSpc>
                <a:spcPts val="5040"/>
              </a:lnSpc>
            </a:pPr>
            <a:r>
              <a:rPr lang="en-US" sz="3600" u="sng">
                <a:solidFill>
                  <a:srgbClr val="FFFFFF"/>
                </a:solidFill>
                <a:latin typeface="Poppins"/>
                <a:ea typeface="Poppins"/>
                <a:cs typeface="Poppins"/>
                <a:sym typeface="Poppins"/>
              </a:rPr>
              <a:t>Before Chains:</a:t>
            </a:r>
          </a:p>
          <a:p>
            <a:pPr algn="l" marL="647703" indent="-323852" lvl="1">
              <a:lnSpc>
                <a:spcPts val="4200"/>
              </a:lnSpc>
              <a:buFont typeface="Arial"/>
              <a:buChar char="•"/>
            </a:pPr>
            <a:r>
              <a:rPr lang="en-US" sz="3000">
                <a:solidFill>
                  <a:srgbClr val="FFFFFF"/>
                </a:solidFill>
                <a:latin typeface="Poppins"/>
                <a:ea typeface="Poppins"/>
                <a:cs typeface="Poppins"/>
                <a:sym typeface="Poppins"/>
              </a:rPr>
              <a:t>Prompts, models, and parsers worked independently</a:t>
            </a:r>
          </a:p>
          <a:p>
            <a:pPr algn="l" marL="647703" indent="-323852" lvl="1">
              <a:lnSpc>
                <a:spcPts val="4200"/>
              </a:lnSpc>
              <a:buFont typeface="Arial"/>
              <a:buChar char="•"/>
            </a:pPr>
            <a:r>
              <a:rPr lang="en-US" sz="3000">
                <a:solidFill>
                  <a:srgbClr val="FFFFFF"/>
                </a:solidFill>
                <a:latin typeface="Poppins"/>
                <a:ea typeface="Poppins"/>
                <a:cs typeface="Poppins"/>
                <a:sym typeface="Poppins"/>
              </a:rPr>
              <a:t>Manua</a:t>
            </a:r>
            <a:r>
              <a:rPr lang="en-US" sz="3000">
                <a:solidFill>
                  <a:srgbClr val="FFFFFF"/>
                </a:solidFill>
                <a:latin typeface="Poppins"/>
                <a:ea typeface="Poppins"/>
                <a:cs typeface="Poppins"/>
                <a:sym typeface="Poppins"/>
              </a:rPr>
              <a:t>l orchestration required</a:t>
            </a:r>
          </a:p>
          <a:p>
            <a:pPr algn="l" marL="647703" indent="-323852" lvl="1">
              <a:lnSpc>
                <a:spcPts val="4200"/>
              </a:lnSpc>
              <a:buFont typeface="Arial"/>
              <a:buChar char="•"/>
            </a:pPr>
            <a:r>
              <a:rPr lang="en-US" sz="3000">
                <a:solidFill>
                  <a:srgbClr val="FFFFFF"/>
                </a:solidFill>
                <a:latin typeface="Poppins"/>
                <a:ea typeface="Poppins"/>
                <a:cs typeface="Poppins"/>
                <a:sym typeface="Poppins"/>
              </a:rPr>
              <a:t>Repetitive glue code in applications</a:t>
            </a:r>
          </a:p>
          <a:p>
            <a:pPr algn="l">
              <a:lnSpc>
                <a:spcPts val="4200"/>
              </a:lnSpc>
            </a:pPr>
          </a:p>
          <a:p>
            <a:pPr algn="l">
              <a:lnSpc>
                <a:spcPts val="5040"/>
              </a:lnSpc>
            </a:pPr>
            <a:r>
              <a:rPr lang="en-US" sz="3600" u="sng">
                <a:solidFill>
                  <a:srgbClr val="FFFFFF"/>
                </a:solidFill>
                <a:latin typeface="Poppins"/>
                <a:ea typeface="Poppins"/>
                <a:cs typeface="Poppins"/>
                <a:sym typeface="Poppins"/>
              </a:rPr>
              <a:t>Nee</a:t>
            </a:r>
            <a:r>
              <a:rPr lang="en-US" sz="3600" u="sng">
                <a:solidFill>
                  <a:srgbClr val="FFFFFF"/>
                </a:solidFill>
                <a:latin typeface="Poppins"/>
                <a:ea typeface="Poppins"/>
                <a:cs typeface="Poppins"/>
                <a:sym typeface="Poppins"/>
              </a:rPr>
              <a:t>d for Chains:</a:t>
            </a:r>
          </a:p>
          <a:p>
            <a:pPr algn="l" marL="647703" indent="-323852" lvl="1">
              <a:lnSpc>
                <a:spcPts val="4200"/>
              </a:lnSpc>
              <a:buFont typeface="Arial"/>
              <a:buChar char="•"/>
            </a:pPr>
            <a:r>
              <a:rPr lang="en-US" sz="3000">
                <a:solidFill>
                  <a:srgbClr val="FFFFFF"/>
                </a:solidFill>
                <a:latin typeface="Poppins"/>
                <a:ea typeface="Poppins"/>
                <a:cs typeface="Poppins"/>
                <a:sym typeface="Poppins"/>
              </a:rPr>
              <a:t>Combine multiple steps into one workflow</a:t>
            </a:r>
          </a:p>
          <a:p>
            <a:pPr algn="l" marL="647703" indent="-323852" lvl="1">
              <a:lnSpc>
                <a:spcPts val="4200"/>
              </a:lnSpc>
              <a:buFont typeface="Arial"/>
              <a:buChar char="•"/>
            </a:pPr>
            <a:r>
              <a:rPr lang="en-US" sz="3000">
                <a:solidFill>
                  <a:srgbClr val="FFFFFF"/>
                </a:solidFill>
                <a:latin typeface="Poppins"/>
                <a:ea typeface="Poppins"/>
                <a:cs typeface="Poppins"/>
                <a:sym typeface="Poppins"/>
              </a:rPr>
              <a:t>Ensur</a:t>
            </a:r>
            <a:r>
              <a:rPr lang="en-US" sz="3000" u="none">
                <a:solidFill>
                  <a:srgbClr val="FFFFFF"/>
                </a:solidFill>
                <a:latin typeface="Poppins"/>
                <a:ea typeface="Poppins"/>
                <a:cs typeface="Poppins"/>
                <a:sym typeface="Poppins"/>
              </a:rPr>
              <a:t>e</a:t>
            </a:r>
            <a:r>
              <a:rPr lang="en-US" sz="3000">
                <a:solidFill>
                  <a:srgbClr val="FFFFFF"/>
                </a:solidFill>
                <a:latin typeface="Poppins"/>
                <a:ea typeface="Poppins"/>
                <a:cs typeface="Poppins"/>
                <a:sym typeface="Poppins"/>
              </a:rPr>
              <a:t> sequential execution</a:t>
            </a:r>
          </a:p>
          <a:p>
            <a:pPr algn="l" marL="647703" indent="-323852" lvl="1">
              <a:lnSpc>
                <a:spcPts val="4200"/>
              </a:lnSpc>
              <a:buFont typeface="Arial"/>
              <a:buChar char="•"/>
            </a:pPr>
            <a:r>
              <a:rPr lang="en-US" sz="3000">
                <a:solidFill>
                  <a:srgbClr val="FFFFFF"/>
                </a:solidFill>
                <a:latin typeface="Poppins"/>
                <a:ea typeface="Poppins"/>
                <a:cs typeface="Poppins"/>
                <a:sym typeface="Poppins"/>
              </a:rPr>
              <a:t>Improve reusability and readability</a:t>
            </a:r>
          </a:p>
        </p:txBody>
      </p:sp>
      <p:sp>
        <p:nvSpPr>
          <p:cNvPr name="TextBox 6" id="6"/>
          <p:cNvSpPr txBox="true"/>
          <p:nvPr/>
        </p:nvSpPr>
        <p:spPr>
          <a:xfrm rot="0">
            <a:off x="1311629" y="942975"/>
            <a:ext cx="16230600" cy="1304925"/>
          </a:xfrm>
          <a:prstGeom prst="rect">
            <a:avLst/>
          </a:prstGeom>
        </p:spPr>
        <p:txBody>
          <a:bodyPr anchor="t" rtlCol="false" tIns="0" lIns="0" bIns="0" rIns="0">
            <a:spAutoFit/>
          </a:bodyPr>
          <a:lstStyle/>
          <a:p>
            <a:pPr algn="just" marL="0" indent="0" lvl="0">
              <a:lnSpc>
                <a:spcPts val="9600"/>
              </a:lnSpc>
            </a:pPr>
            <a:r>
              <a:rPr lang="en-US" b="true" sz="8000">
                <a:solidFill>
                  <a:srgbClr val="FFFFFF"/>
                </a:solidFill>
                <a:latin typeface="Poppins Semi-Bold"/>
                <a:ea typeface="Poppins Semi-Bold"/>
                <a:cs typeface="Poppins Semi-Bold"/>
                <a:sym typeface="Poppins Semi-Bold"/>
              </a:rPr>
              <a:t> Why Do We Need Chains?</a:t>
            </a:r>
          </a:p>
        </p:txBody>
      </p:sp>
    </p:spTree>
  </p:cSld>
  <p:clrMapOvr>
    <a:masterClrMapping/>
  </p:clrMapOvr>
  <p:transition spd="slow">
    <p:cover dir="l"/>
  </p:transition>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942975"/>
            <a:ext cx="12336100" cy="2524125"/>
          </a:xfrm>
          <a:prstGeom prst="rect">
            <a:avLst/>
          </a:prstGeom>
        </p:spPr>
        <p:txBody>
          <a:bodyPr anchor="t" rtlCol="false" tIns="0" lIns="0" bIns="0" rIns="0">
            <a:spAutoFit/>
          </a:bodyPr>
          <a:lstStyle/>
          <a:p>
            <a:pPr algn="l" marL="0" indent="0" lvl="0">
              <a:lnSpc>
                <a:spcPts val="9600"/>
              </a:lnSpc>
              <a:spcBef>
                <a:spcPct val="0"/>
              </a:spcBef>
            </a:pPr>
            <a:r>
              <a:rPr lang="en-US" b="true" sz="8000">
                <a:solidFill>
                  <a:srgbClr val="5492B1"/>
                </a:solidFill>
                <a:latin typeface="Poppins Semi-Bold"/>
                <a:ea typeface="Poppins Semi-Bold"/>
                <a:cs typeface="Poppins Semi-Bold"/>
                <a:sym typeface="Poppins Semi-Bold"/>
              </a:rPr>
              <a:t>Wh</a:t>
            </a:r>
            <a:r>
              <a:rPr lang="en-US" b="true" sz="8000" strike="noStrike" u="none">
                <a:solidFill>
                  <a:srgbClr val="5492B1"/>
                </a:solidFill>
                <a:latin typeface="Poppins Semi-Bold"/>
                <a:ea typeface="Poppins Semi-Bold"/>
                <a:cs typeface="Poppins Semi-Bold"/>
                <a:sym typeface="Poppins Semi-Bold"/>
              </a:rPr>
              <a:t>at </a:t>
            </a:r>
            <a:r>
              <a:rPr lang="en-US" b="true" sz="8000" strike="noStrike" u="none">
                <a:solidFill>
                  <a:srgbClr val="5492B1"/>
                </a:solidFill>
                <a:latin typeface="Poppins Semi-Bold"/>
                <a:ea typeface="Poppins Semi-Bold"/>
                <a:cs typeface="Poppins Semi-Bold"/>
                <a:sym typeface="Poppins Semi-Bold"/>
              </a:rPr>
              <a:t>A</a:t>
            </a:r>
            <a:r>
              <a:rPr lang="en-US" b="true" sz="8000" strike="noStrike" u="none">
                <a:solidFill>
                  <a:srgbClr val="5492B1"/>
                </a:solidFill>
                <a:latin typeface="Poppins Semi-Bold"/>
                <a:ea typeface="Poppins Semi-Bold"/>
                <a:cs typeface="Poppins Semi-Bold"/>
                <a:sym typeface="Poppins Semi-Bold"/>
              </a:rPr>
              <a:t>re Chains in LangChain?</a:t>
            </a:r>
          </a:p>
        </p:txBody>
      </p:sp>
      <p:sp>
        <p:nvSpPr>
          <p:cNvPr name="Freeform 3" id="3"/>
          <p:cNvSpPr/>
          <p:nvPr/>
        </p:nvSpPr>
        <p:spPr>
          <a:xfrm flipH="false" flipV="true" rot="-10728935">
            <a:off x="43713" y="6109401"/>
            <a:ext cx="3552570" cy="4266187"/>
          </a:xfrm>
          <a:custGeom>
            <a:avLst/>
            <a:gdLst/>
            <a:ahLst/>
            <a:cxnLst/>
            <a:rect r="r" b="b" t="t" l="l"/>
            <a:pathLst>
              <a:path h="4266187" w="3552570">
                <a:moveTo>
                  <a:pt x="0" y="4266187"/>
                </a:moveTo>
                <a:lnTo>
                  <a:pt x="3552569" y="4266187"/>
                </a:lnTo>
                <a:lnTo>
                  <a:pt x="3552569" y="0"/>
                </a:lnTo>
                <a:lnTo>
                  <a:pt x="0" y="0"/>
                </a:lnTo>
                <a:lnTo>
                  <a:pt x="0" y="426618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210810" y="1934066"/>
            <a:ext cx="4048490" cy="7675947"/>
          </a:xfrm>
          <a:custGeom>
            <a:avLst/>
            <a:gdLst/>
            <a:ahLst/>
            <a:cxnLst/>
            <a:rect r="r" b="b" t="t" l="l"/>
            <a:pathLst>
              <a:path h="7675947" w="4048490">
                <a:moveTo>
                  <a:pt x="0" y="0"/>
                </a:moveTo>
                <a:lnTo>
                  <a:pt x="4048490" y="0"/>
                </a:lnTo>
                <a:lnTo>
                  <a:pt x="4048490" y="7675947"/>
                </a:lnTo>
                <a:lnTo>
                  <a:pt x="0" y="7675947"/>
                </a:lnTo>
                <a:lnTo>
                  <a:pt x="0" y="0"/>
                </a:lnTo>
                <a:close/>
              </a:path>
            </a:pathLst>
          </a:custGeom>
          <a:blipFill>
            <a:blip r:embed="rId4"/>
            <a:stretch>
              <a:fillRect l="0" t="0" r="-166105" b="0"/>
            </a:stretch>
          </a:blipFill>
        </p:spPr>
      </p:sp>
      <p:sp>
        <p:nvSpPr>
          <p:cNvPr name="TextBox 5" id="5"/>
          <p:cNvSpPr txBox="true"/>
          <p:nvPr/>
        </p:nvSpPr>
        <p:spPr>
          <a:xfrm rot="0">
            <a:off x="1028700" y="4158615"/>
            <a:ext cx="10803130" cy="4276725"/>
          </a:xfrm>
          <a:prstGeom prst="rect">
            <a:avLst/>
          </a:prstGeom>
        </p:spPr>
        <p:txBody>
          <a:bodyPr anchor="t" rtlCol="false" tIns="0" lIns="0" bIns="0" rIns="0">
            <a:spAutoFit/>
          </a:bodyPr>
          <a:lstStyle/>
          <a:p>
            <a:pPr algn="l" marL="0" indent="0" lvl="0">
              <a:lnSpc>
                <a:spcPts val="4200"/>
              </a:lnSpc>
              <a:spcBef>
                <a:spcPct val="0"/>
              </a:spcBef>
            </a:pPr>
            <a:r>
              <a:rPr lang="en-US" sz="3000" strike="noStrike" u="none">
                <a:solidFill>
                  <a:srgbClr val="000000"/>
                </a:solidFill>
                <a:latin typeface="Poppins"/>
                <a:ea typeface="Poppins"/>
                <a:cs typeface="Poppins"/>
                <a:sym typeface="Poppins"/>
              </a:rPr>
              <a:t>A Chain is a s</a:t>
            </a:r>
            <a:r>
              <a:rPr lang="en-US" sz="3000" strike="noStrike" u="none">
                <a:solidFill>
                  <a:srgbClr val="000000"/>
                </a:solidFill>
                <a:latin typeface="Poppins"/>
                <a:ea typeface="Poppins"/>
                <a:cs typeface="Poppins"/>
                <a:sym typeface="Poppins"/>
              </a:rPr>
              <a:t>eq</a:t>
            </a:r>
            <a:r>
              <a:rPr lang="en-US" sz="3000" strike="noStrike" u="none">
                <a:solidFill>
                  <a:srgbClr val="000000"/>
                </a:solidFill>
                <a:latin typeface="Poppins"/>
                <a:ea typeface="Poppins"/>
                <a:cs typeface="Poppins"/>
                <a:sym typeface="Poppins"/>
              </a:rPr>
              <a:t>u</a:t>
            </a:r>
            <a:r>
              <a:rPr lang="en-US" sz="3000" strike="noStrike" u="none">
                <a:solidFill>
                  <a:srgbClr val="000000"/>
                </a:solidFill>
                <a:latin typeface="Poppins"/>
                <a:ea typeface="Poppins"/>
                <a:cs typeface="Poppins"/>
                <a:sym typeface="Poppins"/>
              </a:rPr>
              <a:t>en</a:t>
            </a:r>
            <a:r>
              <a:rPr lang="en-US" sz="3000" strike="noStrike" u="none">
                <a:solidFill>
                  <a:srgbClr val="000000"/>
                </a:solidFill>
                <a:latin typeface="Poppins"/>
                <a:ea typeface="Poppins"/>
                <a:cs typeface="Poppins"/>
                <a:sym typeface="Poppins"/>
              </a:rPr>
              <a:t>c</a:t>
            </a:r>
            <a:r>
              <a:rPr lang="en-US" sz="3000" strike="noStrike" u="none">
                <a:solidFill>
                  <a:srgbClr val="000000"/>
                </a:solidFill>
                <a:latin typeface="Poppins"/>
                <a:ea typeface="Poppins"/>
                <a:cs typeface="Poppins"/>
                <a:sym typeface="Poppins"/>
              </a:rPr>
              <a:t>e</a:t>
            </a:r>
            <a:r>
              <a:rPr lang="en-US" sz="3000" strike="noStrike" u="none">
                <a:solidFill>
                  <a:srgbClr val="000000"/>
                </a:solidFill>
                <a:latin typeface="Poppins"/>
                <a:ea typeface="Poppins"/>
                <a:cs typeface="Poppins"/>
                <a:sym typeface="Poppins"/>
              </a:rPr>
              <a:t> o</a:t>
            </a:r>
            <a:r>
              <a:rPr lang="en-US" sz="3000" strike="noStrike" u="none">
                <a:solidFill>
                  <a:srgbClr val="000000"/>
                </a:solidFill>
                <a:latin typeface="Poppins"/>
                <a:ea typeface="Poppins"/>
                <a:cs typeface="Poppins"/>
                <a:sym typeface="Poppins"/>
              </a:rPr>
              <a:t>f</a:t>
            </a:r>
            <a:r>
              <a:rPr lang="en-US" sz="3000" strike="noStrike" u="none">
                <a:solidFill>
                  <a:srgbClr val="000000"/>
                </a:solidFill>
                <a:latin typeface="Poppins"/>
                <a:ea typeface="Poppins"/>
                <a:cs typeface="Poppins"/>
                <a:sym typeface="Poppins"/>
              </a:rPr>
              <a:t> c</a:t>
            </a:r>
            <a:r>
              <a:rPr lang="en-US" sz="3000" strike="noStrike" u="none">
                <a:solidFill>
                  <a:srgbClr val="000000"/>
                </a:solidFill>
                <a:latin typeface="Poppins"/>
                <a:ea typeface="Poppins"/>
                <a:cs typeface="Poppins"/>
                <a:sym typeface="Poppins"/>
              </a:rPr>
              <a:t>o</a:t>
            </a:r>
            <a:r>
              <a:rPr lang="en-US" sz="3000" strike="noStrike" u="none">
                <a:solidFill>
                  <a:srgbClr val="000000"/>
                </a:solidFill>
                <a:latin typeface="Poppins"/>
                <a:ea typeface="Poppins"/>
                <a:cs typeface="Poppins"/>
                <a:sym typeface="Poppins"/>
              </a:rPr>
              <a:t>mponents where the o</a:t>
            </a:r>
            <a:r>
              <a:rPr lang="en-US" sz="3000" strike="noStrike" u="none">
                <a:solidFill>
                  <a:srgbClr val="000000"/>
                </a:solidFill>
                <a:latin typeface="Poppins"/>
                <a:ea typeface="Poppins"/>
                <a:cs typeface="Poppins"/>
                <a:sym typeface="Poppins"/>
              </a:rPr>
              <a:t>utput</a:t>
            </a:r>
            <a:r>
              <a:rPr lang="en-US" sz="3000" strike="noStrike" u="none">
                <a:solidFill>
                  <a:srgbClr val="000000"/>
                </a:solidFill>
                <a:latin typeface="Poppins"/>
                <a:ea typeface="Poppins"/>
                <a:cs typeface="Poppins"/>
                <a:sym typeface="Poppins"/>
              </a:rPr>
              <a:t> of </a:t>
            </a:r>
            <a:r>
              <a:rPr lang="en-US" sz="3000" strike="noStrike" u="none">
                <a:solidFill>
                  <a:srgbClr val="000000"/>
                </a:solidFill>
                <a:latin typeface="Poppins"/>
                <a:ea typeface="Poppins"/>
                <a:cs typeface="Poppins"/>
                <a:sym typeface="Poppins"/>
              </a:rPr>
              <a:t>one ste</a:t>
            </a:r>
            <a:r>
              <a:rPr lang="en-US" sz="3000" strike="noStrike" u="none">
                <a:solidFill>
                  <a:srgbClr val="000000"/>
                </a:solidFill>
                <a:latin typeface="Poppins"/>
                <a:ea typeface="Poppins"/>
                <a:cs typeface="Poppins"/>
                <a:sym typeface="Poppins"/>
              </a:rPr>
              <a:t>p</a:t>
            </a:r>
            <a:r>
              <a:rPr lang="en-US" sz="3000" strike="noStrike" u="none">
                <a:solidFill>
                  <a:srgbClr val="000000"/>
                </a:solidFill>
                <a:latin typeface="Poppins"/>
                <a:ea typeface="Poppins"/>
                <a:cs typeface="Poppins"/>
                <a:sym typeface="Poppins"/>
              </a:rPr>
              <a:t> be</a:t>
            </a:r>
            <a:r>
              <a:rPr lang="en-US" sz="3000" strike="noStrike" u="none">
                <a:solidFill>
                  <a:srgbClr val="000000"/>
                </a:solidFill>
                <a:latin typeface="Poppins"/>
                <a:ea typeface="Poppins"/>
                <a:cs typeface="Poppins"/>
                <a:sym typeface="Poppins"/>
              </a:rPr>
              <a:t>com</a:t>
            </a:r>
            <a:r>
              <a:rPr lang="en-US" sz="3000" strike="noStrike" u="none">
                <a:solidFill>
                  <a:srgbClr val="000000"/>
                </a:solidFill>
                <a:latin typeface="Poppins"/>
                <a:ea typeface="Poppins"/>
                <a:cs typeface="Poppins"/>
                <a:sym typeface="Poppins"/>
              </a:rPr>
              <a:t>e</a:t>
            </a:r>
            <a:r>
              <a:rPr lang="en-US" sz="3000" strike="noStrike" u="none">
                <a:solidFill>
                  <a:srgbClr val="000000"/>
                </a:solidFill>
                <a:latin typeface="Poppins"/>
                <a:ea typeface="Poppins"/>
                <a:cs typeface="Poppins"/>
                <a:sym typeface="Poppins"/>
              </a:rPr>
              <a:t>s the inp</a:t>
            </a:r>
            <a:r>
              <a:rPr lang="en-US" sz="3000" strike="noStrike" u="none">
                <a:solidFill>
                  <a:srgbClr val="000000"/>
                </a:solidFill>
                <a:latin typeface="Poppins"/>
                <a:ea typeface="Poppins"/>
                <a:cs typeface="Poppins"/>
                <a:sym typeface="Poppins"/>
              </a:rPr>
              <a:t>ut </a:t>
            </a:r>
            <a:r>
              <a:rPr lang="en-US" sz="3000" strike="noStrike" u="none">
                <a:solidFill>
                  <a:srgbClr val="000000"/>
                </a:solidFill>
                <a:latin typeface="Poppins"/>
                <a:ea typeface="Poppins"/>
                <a:cs typeface="Poppins"/>
                <a:sym typeface="Poppins"/>
              </a:rPr>
              <a:t>of the next.</a:t>
            </a:r>
          </a:p>
          <a:p>
            <a:pPr algn="l" marL="0" indent="0" lvl="0">
              <a:lnSpc>
                <a:spcPts val="4200"/>
              </a:lnSpc>
              <a:spcBef>
                <a:spcPct val="0"/>
              </a:spcBef>
            </a:pPr>
          </a:p>
          <a:p>
            <a:pPr algn="l" marL="0" indent="0" lvl="0">
              <a:lnSpc>
                <a:spcPts val="4200"/>
              </a:lnSpc>
              <a:spcBef>
                <a:spcPct val="0"/>
              </a:spcBef>
            </a:pPr>
            <a:r>
              <a:rPr lang="en-US" sz="3000" strike="noStrike" u="none">
                <a:solidFill>
                  <a:srgbClr val="000000"/>
                </a:solidFill>
                <a:latin typeface="Poppins"/>
                <a:ea typeface="Poppins"/>
                <a:cs typeface="Poppins"/>
                <a:sym typeface="Poppins"/>
              </a:rPr>
              <a:t>Key Characteris</a:t>
            </a:r>
            <a:r>
              <a:rPr lang="en-US" sz="3000" strike="noStrike" u="none">
                <a:solidFill>
                  <a:srgbClr val="000000"/>
                </a:solidFill>
                <a:latin typeface="Poppins"/>
                <a:ea typeface="Poppins"/>
                <a:cs typeface="Poppins"/>
                <a:sym typeface="Poppins"/>
              </a:rPr>
              <a:t>tic</a:t>
            </a:r>
            <a:r>
              <a:rPr lang="en-US" sz="3000" strike="noStrike" u="none">
                <a:solidFill>
                  <a:srgbClr val="000000"/>
                </a:solidFill>
                <a:latin typeface="Poppins"/>
                <a:ea typeface="Poppins"/>
                <a:cs typeface="Poppins"/>
                <a:sym typeface="Poppins"/>
              </a:rPr>
              <a:t>s</a:t>
            </a:r>
            <a:r>
              <a:rPr lang="en-US" sz="3000" strike="noStrike" u="none">
                <a:solidFill>
                  <a:srgbClr val="000000"/>
                </a:solidFill>
                <a:latin typeface="Poppins"/>
                <a:ea typeface="Poppins"/>
                <a:cs typeface="Poppins"/>
                <a:sym typeface="Poppins"/>
              </a:rPr>
              <a:t>:</a:t>
            </a:r>
          </a:p>
          <a:p>
            <a:pPr algn="l" marL="647700" indent="-323850" lvl="1">
              <a:lnSpc>
                <a:spcPts val="4200"/>
              </a:lnSpc>
              <a:spcBef>
                <a:spcPct val="0"/>
              </a:spcBef>
              <a:buFont typeface="Arial"/>
              <a:buChar char="•"/>
            </a:pPr>
            <a:r>
              <a:rPr lang="en-US" sz="3000" strike="noStrike" u="none">
                <a:solidFill>
                  <a:srgbClr val="000000"/>
                </a:solidFill>
                <a:latin typeface="Poppins"/>
                <a:ea typeface="Poppins"/>
                <a:cs typeface="Poppins"/>
                <a:sym typeface="Poppins"/>
              </a:rPr>
              <a:t>Lin</a:t>
            </a:r>
            <a:r>
              <a:rPr lang="en-US" sz="3000" strike="noStrike" u="none">
                <a:solidFill>
                  <a:srgbClr val="000000"/>
                </a:solidFill>
                <a:latin typeface="Poppins"/>
                <a:ea typeface="Poppins"/>
                <a:cs typeface="Poppins"/>
                <a:sym typeface="Poppins"/>
              </a:rPr>
              <a:t>e</a:t>
            </a:r>
            <a:r>
              <a:rPr lang="en-US" sz="3000" strike="noStrike" u="none">
                <a:solidFill>
                  <a:srgbClr val="000000"/>
                </a:solidFill>
                <a:latin typeface="Poppins"/>
                <a:ea typeface="Poppins"/>
                <a:cs typeface="Poppins"/>
                <a:sym typeface="Poppins"/>
              </a:rPr>
              <a:t>ar</a:t>
            </a:r>
            <a:r>
              <a:rPr lang="en-US" sz="3000" strike="noStrike" u="none">
                <a:solidFill>
                  <a:srgbClr val="000000"/>
                </a:solidFill>
                <a:latin typeface="Poppins"/>
                <a:ea typeface="Poppins"/>
                <a:cs typeface="Poppins"/>
                <a:sym typeface="Poppins"/>
              </a:rPr>
              <a:t> workflow</a:t>
            </a:r>
          </a:p>
          <a:p>
            <a:pPr algn="l" marL="647700" indent="-323850" lvl="1">
              <a:lnSpc>
                <a:spcPts val="4200"/>
              </a:lnSpc>
              <a:spcBef>
                <a:spcPct val="0"/>
              </a:spcBef>
              <a:buFont typeface="Arial"/>
              <a:buChar char="•"/>
            </a:pPr>
            <a:r>
              <a:rPr lang="en-US" sz="3000" strike="noStrike" u="none">
                <a:solidFill>
                  <a:srgbClr val="000000"/>
                </a:solidFill>
                <a:latin typeface="Poppins"/>
                <a:ea typeface="Poppins"/>
                <a:cs typeface="Poppins"/>
                <a:sym typeface="Poppins"/>
              </a:rPr>
              <a:t>Easy to und</a:t>
            </a:r>
            <a:r>
              <a:rPr lang="en-US" sz="3000" strike="noStrike" u="none">
                <a:solidFill>
                  <a:srgbClr val="000000"/>
                </a:solidFill>
                <a:latin typeface="Poppins"/>
                <a:ea typeface="Poppins"/>
                <a:cs typeface="Poppins"/>
                <a:sym typeface="Poppins"/>
              </a:rPr>
              <a:t>ers</a:t>
            </a:r>
            <a:r>
              <a:rPr lang="en-US" sz="3000" strike="noStrike" u="none">
                <a:solidFill>
                  <a:srgbClr val="000000"/>
                </a:solidFill>
                <a:latin typeface="Poppins"/>
                <a:ea typeface="Poppins"/>
                <a:cs typeface="Poppins"/>
                <a:sym typeface="Poppins"/>
              </a:rPr>
              <a:t>t</a:t>
            </a:r>
            <a:r>
              <a:rPr lang="en-US" sz="3000" strike="noStrike" u="none">
                <a:solidFill>
                  <a:srgbClr val="000000"/>
                </a:solidFill>
                <a:latin typeface="Poppins"/>
                <a:ea typeface="Poppins"/>
                <a:cs typeface="Poppins"/>
                <a:sym typeface="Poppins"/>
              </a:rPr>
              <a:t>and</a:t>
            </a:r>
          </a:p>
          <a:p>
            <a:pPr algn="l" marL="647700" indent="-323850" lvl="1">
              <a:lnSpc>
                <a:spcPts val="4200"/>
              </a:lnSpc>
              <a:spcBef>
                <a:spcPct val="0"/>
              </a:spcBef>
              <a:buFont typeface="Arial"/>
              <a:buChar char="•"/>
            </a:pPr>
            <a:r>
              <a:rPr lang="en-US" sz="3000" strike="noStrike" u="none">
                <a:solidFill>
                  <a:srgbClr val="000000"/>
                </a:solidFill>
                <a:latin typeface="Poppins"/>
                <a:ea typeface="Poppins"/>
                <a:cs typeface="Poppins"/>
                <a:sym typeface="Poppins"/>
              </a:rPr>
              <a:t>Combin</a:t>
            </a:r>
            <a:r>
              <a:rPr lang="en-US" sz="3000" strike="noStrike" u="none">
                <a:solidFill>
                  <a:srgbClr val="000000"/>
                </a:solidFill>
                <a:latin typeface="Poppins"/>
                <a:ea typeface="Poppins"/>
                <a:cs typeface="Poppins"/>
                <a:sym typeface="Poppins"/>
              </a:rPr>
              <a:t>e</a:t>
            </a:r>
            <a:r>
              <a:rPr lang="en-US" sz="3000" strike="noStrike" u="none">
                <a:solidFill>
                  <a:srgbClr val="000000"/>
                </a:solidFill>
                <a:latin typeface="Poppins"/>
                <a:ea typeface="Poppins"/>
                <a:cs typeface="Poppins"/>
                <a:sym typeface="Poppins"/>
              </a:rPr>
              <a:t>s </a:t>
            </a:r>
            <a:r>
              <a:rPr lang="en-US" sz="3000" strike="noStrike" u="none">
                <a:solidFill>
                  <a:srgbClr val="000000"/>
                </a:solidFill>
                <a:latin typeface="Poppins"/>
                <a:ea typeface="Poppins"/>
                <a:cs typeface="Poppins"/>
                <a:sym typeface="Poppins"/>
              </a:rPr>
              <a:t>prompts, models, p</a:t>
            </a:r>
            <a:r>
              <a:rPr lang="en-US" sz="3000" strike="noStrike" u="none">
                <a:solidFill>
                  <a:srgbClr val="000000"/>
                </a:solidFill>
                <a:latin typeface="Poppins"/>
                <a:ea typeface="Poppins"/>
                <a:cs typeface="Poppins"/>
                <a:sym typeface="Poppins"/>
              </a:rPr>
              <a:t>a</a:t>
            </a:r>
            <a:r>
              <a:rPr lang="en-US" sz="3000" strike="noStrike" u="none">
                <a:solidFill>
                  <a:srgbClr val="000000"/>
                </a:solidFill>
                <a:latin typeface="Poppins"/>
                <a:ea typeface="Poppins"/>
                <a:cs typeface="Poppins"/>
                <a:sym typeface="Poppins"/>
              </a:rPr>
              <a:t>rs</a:t>
            </a:r>
            <a:r>
              <a:rPr lang="en-US" sz="3000" strike="noStrike" u="none">
                <a:solidFill>
                  <a:srgbClr val="000000"/>
                </a:solidFill>
                <a:latin typeface="Poppins"/>
                <a:ea typeface="Poppins"/>
                <a:cs typeface="Poppins"/>
                <a:sym typeface="Poppins"/>
              </a:rPr>
              <a:t>ers, </a:t>
            </a:r>
            <a:r>
              <a:rPr lang="en-US" sz="3000" strike="noStrike" u="none">
                <a:solidFill>
                  <a:srgbClr val="000000"/>
                </a:solidFill>
                <a:latin typeface="Poppins"/>
                <a:ea typeface="Poppins"/>
                <a:cs typeface="Poppins"/>
                <a:sym typeface="Poppins"/>
              </a:rPr>
              <a:t>tools</a:t>
            </a:r>
          </a:p>
          <a:p>
            <a:pPr algn="l" marL="0" indent="0" lvl="0">
              <a:lnSpc>
                <a:spcPts val="4200"/>
              </a:lnSpc>
              <a:spcBef>
                <a:spcPct val="0"/>
              </a:spcBef>
            </a:pPr>
          </a:p>
        </p:txBody>
      </p:sp>
    </p:spTree>
  </p:cSld>
  <p:clrMapOvr>
    <a:masterClrMapping/>
  </p:clrMapOvr>
  <p:transition spd="slow">
    <p:cover dir="l"/>
  </p:transition>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2113448" cy="10287000"/>
            <a:chOff x="0" y="0"/>
            <a:chExt cx="556628" cy="2709333"/>
          </a:xfrm>
        </p:grpSpPr>
        <p:sp>
          <p:nvSpPr>
            <p:cNvPr name="Freeform 3" id="3"/>
            <p:cNvSpPr/>
            <p:nvPr/>
          </p:nvSpPr>
          <p:spPr>
            <a:xfrm flipH="false" flipV="false" rot="0">
              <a:off x="0" y="0"/>
              <a:ext cx="556628" cy="2709333"/>
            </a:xfrm>
            <a:custGeom>
              <a:avLst/>
              <a:gdLst/>
              <a:ahLst/>
              <a:cxnLst/>
              <a:rect r="r" b="b" t="t" l="l"/>
              <a:pathLst>
                <a:path h="2709333" w="556628">
                  <a:moveTo>
                    <a:pt x="0" y="0"/>
                  </a:moveTo>
                  <a:lnTo>
                    <a:pt x="556628" y="0"/>
                  </a:lnTo>
                  <a:lnTo>
                    <a:pt x="556628" y="2709333"/>
                  </a:lnTo>
                  <a:lnTo>
                    <a:pt x="0" y="2709333"/>
                  </a:lnTo>
                  <a:close/>
                </a:path>
              </a:pathLst>
            </a:custGeom>
            <a:solidFill>
              <a:srgbClr val="59B1C6"/>
            </a:solidFill>
          </p:spPr>
        </p:sp>
        <p:sp>
          <p:nvSpPr>
            <p:cNvPr name="TextBox 4" id="4"/>
            <p:cNvSpPr txBox="true"/>
            <p:nvPr/>
          </p:nvSpPr>
          <p:spPr>
            <a:xfrm>
              <a:off x="0" y="-66675"/>
              <a:ext cx="556628" cy="2776008"/>
            </a:xfrm>
            <a:prstGeom prst="rect">
              <a:avLst/>
            </a:prstGeom>
          </p:spPr>
          <p:txBody>
            <a:bodyPr anchor="ctr" rtlCol="false" tIns="50800" lIns="50800" bIns="50800" rIns="50800"/>
            <a:lstStyle/>
            <a:p>
              <a:pPr algn="ctr">
                <a:lnSpc>
                  <a:spcPts val="2914"/>
                </a:lnSpc>
              </a:pPr>
            </a:p>
          </p:txBody>
        </p:sp>
      </p:grpSp>
      <p:sp>
        <p:nvSpPr>
          <p:cNvPr name="TextBox 5" id="5"/>
          <p:cNvSpPr txBox="true"/>
          <p:nvPr/>
        </p:nvSpPr>
        <p:spPr>
          <a:xfrm rot="0">
            <a:off x="2743299" y="2872458"/>
            <a:ext cx="14792370" cy="5876925"/>
          </a:xfrm>
          <a:prstGeom prst="rect">
            <a:avLst/>
          </a:prstGeom>
        </p:spPr>
        <p:txBody>
          <a:bodyPr anchor="t" rtlCol="false" tIns="0" lIns="0" bIns="0" rIns="0">
            <a:spAutoFit/>
          </a:bodyPr>
          <a:lstStyle/>
          <a:p>
            <a:pPr algn="l">
              <a:lnSpc>
                <a:spcPts val="4200"/>
              </a:lnSpc>
            </a:pPr>
            <a:r>
              <a:rPr lang="en-US" sz="3000" b="true">
                <a:solidFill>
                  <a:srgbClr val="000000"/>
                </a:solidFill>
                <a:latin typeface="Poppins Bold"/>
                <a:ea typeface="Poppins Bold"/>
                <a:cs typeface="Poppins Bold"/>
                <a:sym typeface="Poppins Bold"/>
              </a:rPr>
              <a:t>Traditional chains</a:t>
            </a:r>
            <a:r>
              <a:rPr lang="en-US" sz="3000">
                <a:solidFill>
                  <a:srgbClr val="000000"/>
                </a:solidFill>
                <a:latin typeface="Poppins"/>
                <a:ea typeface="Poppins"/>
                <a:cs typeface="Poppins"/>
                <a:sym typeface="Poppins"/>
              </a:rPr>
              <a:t> were created using predefined or custom chain classes that manually connected components with different call methods.</a:t>
            </a:r>
          </a:p>
          <a:p>
            <a:pPr algn="l">
              <a:lnSpc>
                <a:spcPts val="4200"/>
              </a:lnSpc>
            </a:pPr>
            <a:r>
              <a:rPr lang="en-US" sz="3000">
                <a:solidFill>
                  <a:srgbClr val="000000"/>
                </a:solidFill>
                <a:latin typeface="Poppins"/>
                <a:ea typeface="Poppins"/>
                <a:cs typeface="Poppins"/>
                <a:sym typeface="Poppins"/>
              </a:rPr>
              <a:t>Examples: </a:t>
            </a:r>
            <a:r>
              <a:rPr lang="en-US" sz="3000">
                <a:solidFill>
                  <a:srgbClr val="000000"/>
                </a:solidFill>
                <a:latin typeface="Poppins"/>
                <a:ea typeface="Poppins"/>
                <a:cs typeface="Poppins"/>
                <a:sym typeface="Poppins"/>
              </a:rPr>
              <a:t>LLMChain, SequentialChain etc.</a:t>
            </a:r>
          </a:p>
          <a:p>
            <a:pPr algn="l">
              <a:lnSpc>
                <a:spcPts val="4200"/>
              </a:lnSpc>
            </a:pPr>
          </a:p>
          <a:p>
            <a:pPr algn="l">
              <a:lnSpc>
                <a:spcPts val="4200"/>
              </a:lnSpc>
            </a:pPr>
            <a:r>
              <a:rPr lang="en-US" sz="3000" b="true">
                <a:solidFill>
                  <a:srgbClr val="000000"/>
                </a:solidFill>
                <a:latin typeface="Poppins Bold"/>
                <a:ea typeface="Poppins Bold"/>
                <a:cs typeface="Poppins Bold"/>
                <a:sym typeface="Poppins Bold"/>
              </a:rPr>
              <a:t>Problems:</a:t>
            </a:r>
          </a:p>
          <a:p>
            <a:pPr algn="l" marL="647702" indent="-323851" lvl="1">
              <a:lnSpc>
                <a:spcPts val="4200"/>
              </a:lnSpc>
              <a:buFont typeface="Arial"/>
              <a:buChar char="•"/>
            </a:pPr>
            <a:r>
              <a:rPr lang="en-US" sz="3000">
                <a:solidFill>
                  <a:srgbClr val="000000"/>
                </a:solidFill>
                <a:latin typeface="Poppins"/>
                <a:ea typeface="Poppins"/>
                <a:cs typeface="Poppins"/>
                <a:sym typeface="Poppins"/>
              </a:rPr>
              <a:t>No common execution interface across </a:t>
            </a:r>
          </a:p>
          <a:p>
            <a:pPr algn="l">
              <a:lnSpc>
                <a:spcPts val="4200"/>
              </a:lnSpc>
            </a:pPr>
            <a:r>
              <a:rPr lang="en-US" sz="3000">
                <a:solidFill>
                  <a:srgbClr val="000000"/>
                </a:solidFill>
                <a:latin typeface="Poppins"/>
                <a:ea typeface="Poppins"/>
                <a:cs typeface="Poppins"/>
                <a:sym typeface="Poppins"/>
              </a:rPr>
              <a:t>      </a:t>
            </a:r>
            <a:r>
              <a:rPr lang="en-US" sz="3000">
                <a:solidFill>
                  <a:srgbClr val="000000"/>
                </a:solidFill>
                <a:latin typeface="Poppins"/>
                <a:ea typeface="Poppins"/>
                <a:cs typeface="Poppins"/>
                <a:sym typeface="Poppins"/>
              </a:rPr>
              <a:t>components</a:t>
            </a:r>
          </a:p>
          <a:p>
            <a:pPr algn="l" marL="647702" indent="-323851" lvl="1">
              <a:lnSpc>
                <a:spcPts val="4200"/>
              </a:lnSpc>
              <a:buFont typeface="Arial"/>
              <a:buChar char="•"/>
            </a:pPr>
            <a:r>
              <a:rPr lang="en-US" sz="3000">
                <a:solidFill>
                  <a:srgbClr val="000000"/>
                </a:solidFill>
                <a:latin typeface="Poppins"/>
                <a:ea typeface="Poppins"/>
                <a:cs typeface="Poppins"/>
                <a:sym typeface="Poppins"/>
              </a:rPr>
              <a:t>Required custom chain classes for every</a:t>
            </a:r>
          </a:p>
          <a:p>
            <a:pPr algn="l">
              <a:lnSpc>
                <a:spcPts val="4200"/>
              </a:lnSpc>
            </a:pPr>
            <a:r>
              <a:rPr lang="en-US" sz="3000">
                <a:solidFill>
                  <a:srgbClr val="000000"/>
                </a:solidFill>
                <a:latin typeface="Poppins"/>
                <a:ea typeface="Poppins"/>
                <a:cs typeface="Poppins"/>
                <a:sym typeface="Poppins"/>
              </a:rPr>
              <a:t>       workflow</a:t>
            </a:r>
          </a:p>
          <a:p>
            <a:pPr algn="l" marL="647702" indent="-323851" lvl="1">
              <a:lnSpc>
                <a:spcPts val="4200"/>
              </a:lnSpc>
              <a:buFont typeface="Arial"/>
              <a:buChar char="•"/>
            </a:pPr>
            <a:r>
              <a:rPr lang="en-US" sz="3000">
                <a:solidFill>
                  <a:srgbClr val="000000"/>
                </a:solidFill>
                <a:latin typeface="Poppins"/>
                <a:ea typeface="Poppins"/>
                <a:cs typeface="Poppins"/>
                <a:sym typeface="Poppins"/>
              </a:rPr>
              <a:t>Made the codebase heavy and complex</a:t>
            </a:r>
          </a:p>
          <a:p>
            <a:pPr algn="l" marL="647702" indent="-323851" lvl="1">
              <a:lnSpc>
                <a:spcPts val="4200"/>
              </a:lnSpc>
              <a:buFont typeface="Arial"/>
              <a:buChar char="•"/>
            </a:pPr>
            <a:r>
              <a:rPr lang="en-US" sz="3000">
                <a:solidFill>
                  <a:srgbClr val="000000"/>
                </a:solidFill>
                <a:latin typeface="Poppins"/>
                <a:ea typeface="Poppins"/>
                <a:cs typeface="Poppins"/>
                <a:sym typeface="Poppins"/>
              </a:rPr>
              <a:t>Difficult for users to learn and extend</a:t>
            </a:r>
          </a:p>
        </p:txBody>
      </p:sp>
      <p:sp>
        <p:nvSpPr>
          <p:cNvPr name="Freeform 6" id="6"/>
          <p:cNvSpPr/>
          <p:nvPr/>
        </p:nvSpPr>
        <p:spPr>
          <a:xfrm flipH="false" flipV="true" rot="0">
            <a:off x="14735430" y="0"/>
            <a:ext cx="3552570" cy="4266187"/>
          </a:xfrm>
          <a:custGeom>
            <a:avLst/>
            <a:gdLst/>
            <a:ahLst/>
            <a:cxnLst/>
            <a:rect r="r" b="b" t="t" l="l"/>
            <a:pathLst>
              <a:path h="4266187" w="3552570">
                <a:moveTo>
                  <a:pt x="0" y="4266187"/>
                </a:moveTo>
                <a:lnTo>
                  <a:pt x="3552570" y="4266187"/>
                </a:lnTo>
                <a:lnTo>
                  <a:pt x="3552570" y="0"/>
                </a:lnTo>
                <a:lnTo>
                  <a:pt x="0" y="0"/>
                </a:lnTo>
                <a:lnTo>
                  <a:pt x="0" y="426618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1371358" y="4571423"/>
            <a:ext cx="6728144" cy="4177960"/>
          </a:xfrm>
          <a:custGeom>
            <a:avLst/>
            <a:gdLst/>
            <a:ahLst/>
            <a:cxnLst/>
            <a:rect r="r" b="b" t="t" l="l"/>
            <a:pathLst>
              <a:path h="4177960" w="6728144">
                <a:moveTo>
                  <a:pt x="0" y="0"/>
                </a:moveTo>
                <a:lnTo>
                  <a:pt x="6728144" y="0"/>
                </a:lnTo>
                <a:lnTo>
                  <a:pt x="6728144" y="4177960"/>
                </a:lnTo>
                <a:lnTo>
                  <a:pt x="0" y="4177960"/>
                </a:lnTo>
                <a:lnTo>
                  <a:pt x="0" y="0"/>
                </a:lnTo>
                <a:close/>
              </a:path>
            </a:pathLst>
          </a:custGeom>
          <a:blipFill>
            <a:blip r:embed="rId4"/>
            <a:stretch>
              <a:fillRect l="0" t="0" r="0" b="0"/>
            </a:stretch>
          </a:blipFill>
        </p:spPr>
      </p:sp>
      <p:sp>
        <p:nvSpPr>
          <p:cNvPr name="TextBox 8" id="8"/>
          <p:cNvSpPr txBox="true"/>
          <p:nvPr/>
        </p:nvSpPr>
        <p:spPr>
          <a:xfrm rot="0">
            <a:off x="752331" y="589313"/>
            <a:ext cx="16783338" cy="1304925"/>
          </a:xfrm>
          <a:prstGeom prst="rect">
            <a:avLst/>
          </a:prstGeom>
        </p:spPr>
        <p:txBody>
          <a:bodyPr anchor="t" rtlCol="false" tIns="0" lIns="0" bIns="0" rIns="0">
            <a:spAutoFit/>
          </a:bodyPr>
          <a:lstStyle/>
          <a:p>
            <a:pPr algn="ctr" marL="0" indent="0" lvl="0">
              <a:lnSpc>
                <a:spcPts val="9600"/>
              </a:lnSpc>
              <a:spcBef>
                <a:spcPct val="0"/>
              </a:spcBef>
            </a:pPr>
            <a:r>
              <a:rPr lang="en-US" b="true" sz="8000">
                <a:solidFill>
                  <a:srgbClr val="5492B1"/>
                </a:solidFill>
                <a:latin typeface="Poppins Semi-Bold"/>
                <a:ea typeface="Poppins Semi-Bold"/>
                <a:cs typeface="Poppins Semi-Bold"/>
                <a:sym typeface="Poppins Semi-Bold"/>
              </a:rPr>
              <a:t>Traditional Chains</a:t>
            </a:r>
          </a:p>
        </p:txBody>
      </p:sp>
    </p:spTree>
  </p:cSld>
  <p:clrMapOvr>
    <a:masterClrMapping/>
  </p:clrMapOvr>
  <p:transition spd="slow">
    <p:cover dir="l"/>
  </p:transition>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5492B1"/>
        </a:solidFill>
      </p:bgPr>
    </p:bg>
    <p:spTree>
      <p:nvGrpSpPr>
        <p:cNvPr id="1" name=""/>
        <p:cNvGrpSpPr/>
        <p:nvPr/>
      </p:nvGrpSpPr>
      <p:grpSpPr>
        <a:xfrm>
          <a:off x="0" y="0"/>
          <a:ext cx="0" cy="0"/>
          <a:chOff x="0" y="0"/>
          <a:chExt cx="0" cy="0"/>
        </a:xfrm>
      </p:grpSpPr>
      <p:sp>
        <p:nvSpPr>
          <p:cNvPr name="Freeform 2" id="2"/>
          <p:cNvSpPr/>
          <p:nvPr/>
        </p:nvSpPr>
        <p:spPr>
          <a:xfrm flipH="true" flipV="false" rot="0">
            <a:off x="207960" y="5780054"/>
            <a:ext cx="3552570" cy="4266187"/>
          </a:xfrm>
          <a:custGeom>
            <a:avLst/>
            <a:gdLst/>
            <a:ahLst/>
            <a:cxnLst/>
            <a:rect r="r" b="b" t="t" l="l"/>
            <a:pathLst>
              <a:path h="4266187" w="3552570">
                <a:moveTo>
                  <a:pt x="3552570" y="0"/>
                </a:moveTo>
                <a:lnTo>
                  <a:pt x="0" y="0"/>
                </a:lnTo>
                <a:lnTo>
                  <a:pt x="0" y="4266186"/>
                </a:lnTo>
                <a:lnTo>
                  <a:pt x="3552570" y="4266186"/>
                </a:lnTo>
                <a:lnTo>
                  <a:pt x="355257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364216" y="-437745"/>
            <a:ext cx="10403246" cy="3650594"/>
          </a:xfrm>
          <a:custGeom>
            <a:avLst/>
            <a:gdLst/>
            <a:ahLst/>
            <a:cxnLst/>
            <a:rect r="r" b="b" t="t" l="l"/>
            <a:pathLst>
              <a:path h="3650594" w="10403246">
                <a:moveTo>
                  <a:pt x="0" y="0"/>
                </a:moveTo>
                <a:lnTo>
                  <a:pt x="10403246" y="0"/>
                </a:lnTo>
                <a:lnTo>
                  <a:pt x="10403246" y="3650594"/>
                </a:lnTo>
                <a:lnTo>
                  <a:pt x="0" y="36505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984245" y="487016"/>
            <a:ext cx="14081899" cy="9094914"/>
          </a:xfrm>
          <a:custGeom>
            <a:avLst/>
            <a:gdLst/>
            <a:ahLst/>
            <a:cxnLst/>
            <a:rect r="r" b="b" t="t" l="l"/>
            <a:pathLst>
              <a:path h="9094914" w="14081899">
                <a:moveTo>
                  <a:pt x="0" y="0"/>
                </a:moveTo>
                <a:lnTo>
                  <a:pt x="14081899" y="0"/>
                </a:lnTo>
                <a:lnTo>
                  <a:pt x="14081899" y="9094914"/>
                </a:lnTo>
                <a:lnTo>
                  <a:pt x="0" y="9094914"/>
                </a:lnTo>
                <a:lnTo>
                  <a:pt x="0" y="0"/>
                </a:lnTo>
                <a:close/>
              </a:path>
            </a:pathLst>
          </a:custGeom>
          <a:blipFill>
            <a:blip r:embed="rId6"/>
            <a:stretch>
              <a:fillRect l="-5780" t="-3540" r="-7707" b="-8697"/>
            </a:stretch>
          </a:blipFill>
        </p:spPr>
      </p:sp>
    </p:spTree>
  </p:cSld>
  <p:clrMapOvr>
    <a:masterClrMapping/>
  </p:clrMapOvr>
  <p:transition spd="slow">
    <p:cover dir="l"/>
  </p:transition>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5400000">
            <a:off x="-4172923" y="3260080"/>
            <a:ext cx="10403246" cy="3650594"/>
          </a:xfrm>
          <a:custGeom>
            <a:avLst/>
            <a:gdLst/>
            <a:ahLst/>
            <a:cxnLst/>
            <a:rect r="r" b="b" t="t" l="l"/>
            <a:pathLst>
              <a:path h="3650594" w="10403246">
                <a:moveTo>
                  <a:pt x="0" y="3650594"/>
                </a:moveTo>
                <a:lnTo>
                  <a:pt x="10403246" y="3650594"/>
                </a:lnTo>
                <a:lnTo>
                  <a:pt x="10403246" y="0"/>
                </a:lnTo>
                <a:lnTo>
                  <a:pt x="0" y="0"/>
                </a:lnTo>
                <a:lnTo>
                  <a:pt x="0" y="365059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136926" y="1931051"/>
            <a:ext cx="12748733" cy="7334250"/>
          </a:xfrm>
          <a:prstGeom prst="rect">
            <a:avLst/>
          </a:prstGeom>
        </p:spPr>
        <p:txBody>
          <a:bodyPr anchor="t" rtlCol="false" tIns="0" lIns="0" bIns="0" rIns="0">
            <a:spAutoFit/>
          </a:bodyPr>
          <a:lstStyle/>
          <a:p>
            <a:pPr algn="just">
              <a:lnSpc>
                <a:spcPts val="4199"/>
              </a:lnSpc>
            </a:pPr>
            <a:r>
              <a:rPr lang="en-US" sz="2999">
                <a:solidFill>
                  <a:srgbClr val="000000"/>
                </a:solidFill>
                <a:latin typeface="Poppins"/>
                <a:ea typeface="Poppins"/>
                <a:cs typeface="Poppins"/>
                <a:sym typeface="Poppins"/>
              </a:rPr>
              <a:t>A Runnable is a</a:t>
            </a:r>
            <a:r>
              <a:rPr lang="en-US" sz="2999" b="true">
                <a:solidFill>
                  <a:srgbClr val="000000"/>
                </a:solidFill>
                <a:latin typeface="Poppins Bold"/>
                <a:ea typeface="Poppins Bold"/>
                <a:cs typeface="Poppins Bold"/>
                <a:sym typeface="Poppins Bold"/>
              </a:rPr>
              <a:t> unit</a:t>
            </a:r>
            <a:r>
              <a:rPr lang="en-US" sz="2999">
                <a:solidFill>
                  <a:srgbClr val="000000"/>
                </a:solidFill>
                <a:latin typeface="Poppins"/>
                <a:ea typeface="Poppins"/>
                <a:cs typeface="Poppins"/>
                <a:sym typeface="Poppins"/>
              </a:rPr>
              <a:t> of work in LangChain.</a:t>
            </a:r>
          </a:p>
          <a:p>
            <a:pPr algn="just">
              <a:lnSpc>
                <a:spcPts val="4199"/>
              </a:lnSpc>
            </a:pPr>
            <a:r>
              <a:rPr lang="en-US" sz="2999">
                <a:solidFill>
                  <a:srgbClr val="000000"/>
                </a:solidFill>
                <a:latin typeface="Poppins"/>
                <a:ea typeface="Poppins"/>
                <a:cs typeface="Poppins"/>
                <a:sym typeface="Poppins"/>
              </a:rPr>
              <a:t>Every runnable:</a:t>
            </a:r>
          </a:p>
          <a:p>
            <a:pPr algn="just">
              <a:lnSpc>
                <a:spcPts val="4199"/>
              </a:lnSpc>
            </a:pPr>
          </a:p>
          <a:p>
            <a:pPr algn="just" marL="647698" indent="-323849" lvl="1">
              <a:lnSpc>
                <a:spcPts val="4199"/>
              </a:lnSpc>
              <a:buFont typeface="Arial"/>
              <a:buChar char="•"/>
            </a:pPr>
            <a:r>
              <a:rPr lang="en-US" sz="2999">
                <a:solidFill>
                  <a:srgbClr val="000000"/>
                </a:solidFill>
                <a:latin typeface="Poppins"/>
                <a:ea typeface="Poppins"/>
                <a:cs typeface="Poppins"/>
                <a:sym typeface="Poppins"/>
              </a:rPr>
              <a:t>Takes some input.</a:t>
            </a:r>
          </a:p>
          <a:p>
            <a:pPr algn="just" marL="647698" indent="-323849" lvl="1">
              <a:lnSpc>
                <a:spcPts val="4199"/>
              </a:lnSpc>
              <a:buFont typeface="Arial"/>
              <a:buChar char="•"/>
            </a:pPr>
            <a:r>
              <a:rPr lang="en-US" sz="2999">
                <a:solidFill>
                  <a:srgbClr val="000000"/>
                </a:solidFill>
                <a:latin typeface="Poppins"/>
                <a:ea typeface="Poppins"/>
                <a:cs typeface="Poppins"/>
                <a:sym typeface="Poppins"/>
              </a:rPr>
              <a:t>Processes the input.</a:t>
            </a:r>
          </a:p>
          <a:p>
            <a:pPr algn="just" marL="647698" indent="-323849" lvl="1">
              <a:lnSpc>
                <a:spcPts val="4199"/>
              </a:lnSpc>
              <a:buFont typeface="Arial"/>
              <a:buChar char="•"/>
            </a:pPr>
            <a:r>
              <a:rPr lang="en-US" sz="2999">
                <a:solidFill>
                  <a:srgbClr val="000000"/>
                </a:solidFill>
                <a:latin typeface="Poppins"/>
                <a:ea typeface="Poppins"/>
                <a:cs typeface="Poppins"/>
                <a:sym typeface="Poppins"/>
              </a:rPr>
              <a:t>Returns an output.</a:t>
            </a:r>
          </a:p>
          <a:p>
            <a:pPr algn="just">
              <a:lnSpc>
                <a:spcPts val="4199"/>
              </a:lnSpc>
            </a:pPr>
          </a:p>
          <a:p>
            <a:pPr algn="just">
              <a:lnSpc>
                <a:spcPts val="4199"/>
              </a:lnSpc>
            </a:pPr>
            <a:r>
              <a:rPr lang="en-US" sz="2999">
                <a:solidFill>
                  <a:srgbClr val="000000"/>
                </a:solidFill>
                <a:latin typeface="Poppins"/>
                <a:ea typeface="Poppins"/>
                <a:cs typeface="Poppins"/>
                <a:sym typeface="Poppins"/>
              </a:rPr>
              <a:t>All runnables follow a common interface with standardized methods, such as:</a:t>
            </a:r>
          </a:p>
          <a:p>
            <a:pPr algn="just">
              <a:lnSpc>
                <a:spcPts val="4199"/>
              </a:lnSpc>
            </a:pPr>
          </a:p>
          <a:p>
            <a:pPr algn="just" marL="647698" indent="-323849" lvl="1">
              <a:lnSpc>
                <a:spcPts val="4199"/>
              </a:lnSpc>
              <a:buFont typeface="Arial"/>
              <a:buChar char="•"/>
            </a:pPr>
            <a:r>
              <a:rPr lang="en-US" sz="2999">
                <a:solidFill>
                  <a:srgbClr val="000000"/>
                </a:solidFill>
                <a:latin typeface="Poppins"/>
                <a:ea typeface="Poppins"/>
                <a:cs typeface="Poppins"/>
                <a:sym typeface="Poppins"/>
              </a:rPr>
              <a:t>invoke(input): Process input and return output.</a:t>
            </a:r>
          </a:p>
          <a:p>
            <a:pPr algn="just" marL="647698" indent="-323849" lvl="1">
              <a:lnSpc>
                <a:spcPts val="4199"/>
              </a:lnSpc>
              <a:buFont typeface="Arial"/>
              <a:buChar char="•"/>
            </a:pPr>
            <a:r>
              <a:rPr lang="en-US" sz="2999">
                <a:solidFill>
                  <a:srgbClr val="000000"/>
                </a:solidFill>
                <a:latin typeface="Poppins"/>
                <a:ea typeface="Poppins"/>
                <a:cs typeface="Poppins"/>
                <a:sym typeface="Poppins"/>
              </a:rPr>
              <a:t>batch(inputs): Process multiple inputs at once, returning multiple outputs.</a:t>
            </a:r>
          </a:p>
          <a:p>
            <a:pPr algn="just" marL="647698" indent="-323849" lvl="1">
              <a:lnSpc>
                <a:spcPts val="4199"/>
              </a:lnSpc>
              <a:buFont typeface="Arial"/>
              <a:buChar char="•"/>
            </a:pPr>
            <a:r>
              <a:rPr lang="en-US" sz="2999">
                <a:solidFill>
                  <a:srgbClr val="000000"/>
                </a:solidFill>
                <a:latin typeface="Poppins"/>
                <a:ea typeface="Poppins"/>
                <a:cs typeface="Poppins"/>
                <a:sym typeface="Poppins"/>
              </a:rPr>
              <a:t>stream(): Support streaming outputs.</a:t>
            </a:r>
          </a:p>
        </p:txBody>
      </p:sp>
      <p:sp>
        <p:nvSpPr>
          <p:cNvPr name="Freeform 4" id="4"/>
          <p:cNvSpPr/>
          <p:nvPr/>
        </p:nvSpPr>
        <p:spPr>
          <a:xfrm flipH="false" flipV="false" rot="0">
            <a:off x="14735430" y="7125207"/>
            <a:ext cx="3552570" cy="4266187"/>
          </a:xfrm>
          <a:custGeom>
            <a:avLst/>
            <a:gdLst/>
            <a:ahLst/>
            <a:cxnLst/>
            <a:rect r="r" b="b" t="t" l="l"/>
            <a:pathLst>
              <a:path h="4266187" w="3552570">
                <a:moveTo>
                  <a:pt x="0" y="0"/>
                </a:moveTo>
                <a:lnTo>
                  <a:pt x="3552570" y="0"/>
                </a:lnTo>
                <a:lnTo>
                  <a:pt x="3552570" y="4266186"/>
                </a:lnTo>
                <a:lnTo>
                  <a:pt x="0" y="42661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2193813" y="1804186"/>
            <a:ext cx="3691846" cy="3614965"/>
          </a:xfrm>
          <a:custGeom>
            <a:avLst/>
            <a:gdLst/>
            <a:ahLst/>
            <a:cxnLst/>
            <a:rect r="r" b="b" t="t" l="l"/>
            <a:pathLst>
              <a:path h="3614965" w="3691846">
                <a:moveTo>
                  <a:pt x="0" y="0"/>
                </a:moveTo>
                <a:lnTo>
                  <a:pt x="3691846" y="0"/>
                </a:lnTo>
                <a:lnTo>
                  <a:pt x="3691846" y="3614966"/>
                </a:lnTo>
                <a:lnTo>
                  <a:pt x="0" y="3614966"/>
                </a:lnTo>
                <a:lnTo>
                  <a:pt x="0" y="0"/>
                </a:lnTo>
                <a:close/>
              </a:path>
            </a:pathLst>
          </a:custGeom>
          <a:blipFill>
            <a:blip r:embed="rId6"/>
            <a:stretch>
              <a:fillRect l="-39098" t="-6026" r="-33512" b="-11421"/>
            </a:stretch>
          </a:blipFill>
        </p:spPr>
      </p:sp>
      <p:sp>
        <p:nvSpPr>
          <p:cNvPr name="TextBox 6" id="6"/>
          <p:cNvSpPr txBox="true"/>
          <p:nvPr/>
        </p:nvSpPr>
        <p:spPr>
          <a:xfrm rot="0">
            <a:off x="5891922" y="242887"/>
            <a:ext cx="6504156" cy="1304925"/>
          </a:xfrm>
          <a:prstGeom prst="rect">
            <a:avLst/>
          </a:prstGeom>
        </p:spPr>
        <p:txBody>
          <a:bodyPr anchor="t" rtlCol="false" tIns="0" lIns="0" bIns="0" rIns="0">
            <a:spAutoFit/>
          </a:bodyPr>
          <a:lstStyle/>
          <a:p>
            <a:pPr algn="just" marL="0" indent="0" lvl="0">
              <a:lnSpc>
                <a:spcPts val="9600"/>
              </a:lnSpc>
              <a:spcBef>
                <a:spcPct val="0"/>
              </a:spcBef>
            </a:pPr>
            <a:r>
              <a:rPr lang="en-US" b="true" sz="8000">
                <a:solidFill>
                  <a:srgbClr val="5492B1"/>
                </a:solidFill>
                <a:latin typeface="Poppins Semi-Bold"/>
                <a:ea typeface="Poppins Semi-Bold"/>
                <a:cs typeface="Poppins Semi-Bold"/>
                <a:sym typeface="Poppins Semi-Bold"/>
              </a:rPr>
              <a:t>Runnables</a:t>
            </a:r>
          </a:p>
        </p:txBody>
      </p:sp>
    </p:spTree>
  </p:cSld>
  <p:clrMapOvr>
    <a:masterClrMapping/>
  </p:clrMapOvr>
  <p:transition spd="slow">
    <p:cover dir="l"/>
  </p:transition>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9144000" cy="10287000"/>
            <a:chOff x="0" y="0"/>
            <a:chExt cx="2408296" cy="2709333"/>
          </a:xfrm>
        </p:grpSpPr>
        <p:sp>
          <p:nvSpPr>
            <p:cNvPr name="Freeform 3" id="3"/>
            <p:cNvSpPr/>
            <p:nvPr/>
          </p:nvSpPr>
          <p:spPr>
            <a:xfrm flipH="false" flipV="false" rot="0">
              <a:off x="0" y="0"/>
              <a:ext cx="2408296" cy="2709333"/>
            </a:xfrm>
            <a:custGeom>
              <a:avLst/>
              <a:gdLst/>
              <a:ahLst/>
              <a:cxnLst/>
              <a:rect r="r" b="b" t="t" l="l"/>
              <a:pathLst>
                <a:path h="2709333" w="2408296">
                  <a:moveTo>
                    <a:pt x="0" y="0"/>
                  </a:moveTo>
                  <a:lnTo>
                    <a:pt x="2408296" y="0"/>
                  </a:lnTo>
                  <a:lnTo>
                    <a:pt x="2408296" y="2709333"/>
                  </a:lnTo>
                  <a:lnTo>
                    <a:pt x="0" y="2709333"/>
                  </a:lnTo>
                  <a:close/>
                </a:path>
              </a:pathLst>
            </a:custGeom>
            <a:solidFill>
              <a:srgbClr val="59B1C6"/>
            </a:solidFill>
          </p:spPr>
        </p:sp>
        <p:sp>
          <p:nvSpPr>
            <p:cNvPr name="TextBox 4" id="4"/>
            <p:cNvSpPr txBox="true"/>
            <p:nvPr/>
          </p:nvSpPr>
          <p:spPr>
            <a:xfrm>
              <a:off x="0" y="-66675"/>
              <a:ext cx="2408296" cy="2776008"/>
            </a:xfrm>
            <a:prstGeom prst="rect">
              <a:avLst/>
            </a:prstGeom>
          </p:spPr>
          <p:txBody>
            <a:bodyPr anchor="ctr" rtlCol="false" tIns="50800" lIns="50800" bIns="50800" rIns="50800"/>
            <a:lstStyle/>
            <a:p>
              <a:pPr algn="ctr">
                <a:lnSpc>
                  <a:spcPts val="2914"/>
                </a:lnSpc>
              </a:pPr>
            </a:p>
          </p:txBody>
        </p:sp>
      </p:grpSp>
      <p:sp>
        <p:nvSpPr>
          <p:cNvPr name="TextBox 5" id="5"/>
          <p:cNvSpPr txBox="true"/>
          <p:nvPr/>
        </p:nvSpPr>
        <p:spPr>
          <a:xfrm rot="0">
            <a:off x="816533" y="271018"/>
            <a:ext cx="8327467" cy="2524125"/>
          </a:xfrm>
          <a:prstGeom prst="rect">
            <a:avLst/>
          </a:prstGeom>
        </p:spPr>
        <p:txBody>
          <a:bodyPr anchor="t" rtlCol="false" tIns="0" lIns="0" bIns="0" rIns="0">
            <a:spAutoFit/>
          </a:bodyPr>
          <a:lstStyle/>
          <a:p>
            <a:pPr algn="just" marL="0" indent="0" lvl="0">
              <a:lnSpc>
                <a:spcPts val="9600"/>
              </a:lnSpc>
              <a:spcBef>
                <a:spcPct val="0"/>
              </a:spcBef>
            </a:pPr>
            <a:r>
              <a:rPr lang="en-US" b="true" sz="8000" strike="noStrike" u="none">
                <a:solidFill>
                  <a:srgbClr val="FFFFFF"/>
                </a:solidFill>
                <a:latin typeface="Poppins Semi-Bold"/>
                <a:ea typeface="Poppins Semi-Bold"/>
                <a:cs typeface="Poppins Semi-Bold"/>
                <a:sym typeface="Poppins Semi-Bold"/>
              </a:rPr>
              <a:t>Task‑Speci</a:t>
            </a:r>
            <a:r>
              <a:rPr lang="en-US" b="true" sz="8000" strike="noStrike" u="none">
                <a:solidFill>
                  <a:srgbClr val="FFFFFF"/>
                </a:solidFill>
                <a:latin typeface="Poppins Semi-Bold"/>
                <a:ea typeface="Poppins Semi-Bold"/>
                <a:cs typeface="Poppins Semi-Bold"/>
                <a:sym typeface="Poppins Semi-Bold"/>
              </a:rPr>
              <a:t>fic Run</a:t>
            </a:r>
            <a:r>
              <a:rPr lang="en-US" b="true" sz="8000" strike="noStrike" u="none">
                <a:solidFill>
                  <a:srgbClr val="FFFFFF"/>
                </a:solidFill>
                <a:latin typeface="Poppins Semi-Bold"/>
                <a:ea typeface="Poppins Semi-Bold"/>
                <a:cs typeface="Poppins Semi-Bold"/>
                <a:sym typeface="Poppins Semi-Bold"/>
              </a:rPr>
              <a:t>nables</a:t>
            </a:r>
          </a:p>
        </p:txBody>
      </p:sp>
      <p:sp>
        <p:nvSpPr>
          <p:cNvPr name="TextBox 6" id="6"/>
          <p:cNvSpPr txBox="true"/>
          <p:nvPr/>
        </p:nvSpPr>
        <p:spPr>
          <a:xfrm rot="0">
            <a:off x="473228" y="3637367"/>
            <a:ext cx="8191469" cy="5762625"/>
          </a:xfrm>
          <a:prstGeom prst="rect">
            <a:avLst/>
          </a:prstGeom>
        </p:spPr>
        <p:txBody>
          <a:bodyPr anchor="t" rtlCol="false" tIns="0" lIns="0" bIns="0" rIns="0">
            <a:spAutoFit/>
          </a:bodyPr>
          <a:lstStyle/>
          <a:p>
            <a:pPr algn="l" marL="647698" indent="-323849" lvl="1">
              <a:lnSpc>
                <a:spcPts val="4199"/>
              </a:lnSpc>
              <a:buFont typeface="Arial"/>
              <a:buChar char="•"/>
            </a:pPr>
            <a:r>
              <a:rPr lang="en-US" sz="2999">
                <a:solidFill>
                  <a:srgbClr val="FFFFFF"/>
                </a:solidFill>
                <a:latin typeface="Poppins"/>
                <a:ea typeface="Poppins"/>
                <a:cs typeface="Poppins"/>
                <a:sym typeface="Poppins"/>
              </a:rPr>
              <a:t>Core LangChain components converted into Runnables</a:t>
            </a:r>
          </a:p>
          <a:p>
            <a:pPr algn="just" marL="647698" indent="-323849" lvl="1">
              <a:lnSpc>
                <a:spcPts val="4199"/>
              </a:lnSpc>
              <a:buFont typeface="Arial"/>
              <a:buChar char="•"/>
            </a:pPr>
            <a:r>
              <a:rPr lang="en-US" sz="2999">
                <a:solidFill>
                  <a:srgbClr val="FFFFFF"/>
                </a:solidFill>
                <a:latin typeface="Poppins"/>
                <a:ea typeface="Poppins"/>
                <a:cs typeface="Poppins"/>
                <a:sym typeface="Poppins"/>
              </a:rPr>
              <a:t>Each Runnable performs a specific</a:t>
            </a:r>
          </a:p>
          <a:p>
            <a:pPr algn="just">
              <a:lnSpc>
                <a:spcPts val="4199"/>
              </a:lnSpc>
            </a:pPr>
            <a:r>
              <a:rPr lang="en-US" sz="2999">
                <a:solidFill>
                  <a:srgbClr val="FFFFFF"/>
                </a:solidFill>
                <a:latin typeface="Poppins"/>
                <a:ea typeface="Poppins"/>
                <a:cs typeface="Poppins"/>
                <a:sym typeface="Poppins"/>
              </a:rPr>
              <a:t>      task</a:t>
            </a:r>
          </a:p>
          <a:p>
            <a:pPr algn="just" marL="647698" indent="-323849" lvl="1">
              <a:lnSpc>
                <a:spcPts val="4199"/>
              </a:lnSpc>
              <a:buFont typeface="Arial"/>
              <a:buChar char="•"/>
            </a:pPr>
            <a:r>
              <a:rPr lang="en-US" sz="2999">
                <a:solidFill>
                  <a:srgbClr val="FFFFFF"/>
                </a:solidFill>
                <a:latin typeface="Poppins"/>
                <a:ea typeface="Poppins"/>
                <a:cs typeface="Poppins"/>
                <a:sym typeface="Poppins"/>
              </a:rPr>
              <a:t>Used to build functional pipelines</a:t>
            </a:r>
          </a:p>
          <a:p>
            <a:pPr algn="just">
              <a:lnSpc>
                <a:spcPts val="4199"/>
              </a:lnSpc>
            </a:pPr>
            <a:r>
              <a:rPr lang="en-US" sz="2999">
                <a:solidFill>
                  <a:srgbClr val="FFFFFF"/>
                </a:solidFill>
                <a:latin typeface="Poppins"/>
                <a:ea typeface="Poppins"/>
                <a:cs typeface="Poppins"/>
                <a:sym typeface="Poppins"/>
              </a:rPr>
              <a:t>Examples:</a:t>
            </a:r>
          </a:p>
          <a:p>
            <a:pPr algn="just" marL="647698" indent="-323849" lvl="1">
              <a:lnSpc>
                <a:spcPts val="4199"/>
              </a:lnSpc>
              <a:buFont typeface="Arial"/>
              <a:buChar char="•"/>
            </a:pPr>
            <a:r>
              <a:rPr lang="en-US" sz="2999">
                <a:solidFill>
                  <a:srgbClr val="FFFFFF"/>
                </a:solidFill>
                <a:latin typeface="Poppins"/>
                <a:ea typeface="Poppins"/>
                <a:cs typeface="Poppins"/>
                <a:sym typeface="Poppins"/>
              </a:rPr>
              <a:t>PromptTemplate – designs prompts</a:t>
            </a:r>
          </a:p>
          <a:p>
            <a:pPr algn="just" marL="647698" indent="-323849" lvl="1">
              <a:lnSpc>
                <a:spcPts val="4199"/>
              </a:lnSpc>
              <a:buFont typeface="Arial"/>
              <a:buChar char="•"/>
            </a:pPr>
            <a:r>
              <a:rPr lang="en-US" sz="2999">
                <a:solidFill>
                  <a:srgbClr val="FFFFFF"/>
                </a:solidFill>
                <a:latin typeface="Poppins"/>
                <a:ea typeface="Poppins"/>
                <a:cs typeface="Poppins"/>
                <a:sym typeface="Poppins"/>
              </a:rPr>
              <a:t>ChatOpenAI / LLM – interacts with models</a:t>
            </a:r>
          </a:p>
          <a:p>
            <a:pPr algn="just" marL="647698" indent="-323849" lvl="1">
              <a:lnSpc>
                <a:spcPts val="4199"/>
              </a:lnSpc>
              <a:buFont typeface="Arial"/>
              <a:buChar char="•"/>
            </a:pPr>
            <a:r>
              <a:rPr lang="en-US" sz="2999">
                <a:solidFill>
                  <a:srgbClr val="FFFFFF"/>
                </a:solidFill>
                <a:latin typeface="Poppins"/>
                <a:ea typeface="Poppins"/>
                <a:cs typeface="Poppins"/>
                <a:sym typeface="Poppins"/>
              </a:rPr>
              <a:t>Retriever – fetches documents</a:t>
            </a:r>
          </a:p>
          <a:p>
            <a:pPr algn="just">
              <a:lnSpc>
                <a:spcPts val="4199"/>
              </a:lnSpc>
            </a:pPr>
          </a:p>
        </p:txBody>
      </p:sp>
      <p:sp>
        <p:nvSpPr>
          <p:cNvPr name="Freeform 7" id="7"/>
          <p:cNvSpPr/>
          <p:nvPr/>
        </p:nvSpPr>
        <p:spPr>
          <a:xfrm flipH="false" flipV="false" rot="0">
            <a:off x="14487780" y="5780054"/>
            <a:ext cx="3552570" cy="4266187"/>
          </a:xfrm>
          <a:custGeom>
            <a:avLst/>
            <a:gdLst/>
            <a:ahLst/>
            <a:cxnLst/>
            <a:rect r="r" b="b" t="t" l="l"/>
            <a:pathLst>
              <a:path h="4266187" w="3552570">
                <a:moveTo>
                  <a:pt x="0" y="0"/>
                </a:moveTo>
                <a:lnTo>
                  <a:pt x="3552570" y="0"/>
                </a:lnTo>
                <a:lnTo>
                  <a:pt x="3552570" y="4266186"/>
                </a:lnTo>
                <a:lnTo>
                  <a:pt x="0" y="42661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9960533" y="271018"/>
            <a:ext cx="8327467" cy="2524125"/>
          </a:xfrm>
          <a:prstGeom prst="rect">
            <a:avLst/>
          </a:prstGeom>
        </p:spPr>
        <p:txBody>
          <a:bodyPr anchor="t" rtlCol="false" tIns="0" lIns="0" bIns="0" rIns="0">
            <a:spAutoFit/>
          </a:bodyPr>
          <a:lstStyle/>
          <a:p>
            <a:pPr algn="just" marL="0" indent="0" lvl="0">
              <a:lnSpc>
                <a:spcPts val="9600"/>
              </a:lnSpc>
              <a:spcBef>
                <a:spcPct val="0"/>
              </a:spcBef>
            </a:pPr>
            <a:r>
              <a:rPr lang="en-US" b="true" sz="8000" strike="noStrike" u="none">
                <a:solidFill>
                  <a:srgbClr val="59B1C6"/>
                </a:solidFill>
                <a:latin typeface="Poppins Semi-Bold"/>
                <a:ea typeface="Poppins Semi-Bold"/>
                <a:cs typeface="Poppins Semi-Bold"/>
                <a:sym typeface="Poppins Semi-Bold"/>
              </a:rPr>
              <a:t>Runnable Primitives</a:t>
            </a:r>
          </a:p>
        </p:txBody>
      </p:sp>
      <p:sp>
        <p:nvSpPr>
          <p:cNvPr name="TextBox 9" id="9"/>
          <p:cNvSpPr txBox="true"/>
          <p:nvPr/>
        </p:nvSpPr>
        <p:spPr>
          <a:xfrm rot="0">
            <a:off x="9712883" y="3637367"/>
            <a:ext cx="8115300" cy="5238750"/>
          </a:xfrm>
          <a:prstGeom prst="rect">
            <a:avLst/>
          </a:prstGeom>
        </p:spPr>
        <p:txBody>
          <a:bodyPr anchor="t" rtlCol="false" tIns="0" lIns="0" bIns="0" rIns="0">
            <a:spAutoFit/>
          </a:bodyPr>
          <a:lstStyle/>
          <a:p>
            <a:pPr algn="l" marL="647698" indent="-323849" lvl="1">
              <a:lnSpc>
                <a:spcPts val="4199"/>
              </a:lnSpc>
              <a:buFont typeface="Arial"/>
              <a:buChar char="•"/>
            </a:pPr>
            <a:r>
              <a:rPr lang="en-US" sz="2999">
                <a:solidFill>
                  <a:srgbClr val="5492B1"/>
                </a:solidFill>
                <a:latin typeface="Poppins"/>
                <a:ea typeface="Poppins"/>
                <a:cs typeface="Poppins"/>
                <a:sym typeface="Poppins"/>
              </a:rPr>
              <a:t>Fundam</a:t>
            </a:r>
            <a:r>
              <a:rPr lang="en-US" sz="2999">
                <a:solidFill>
                  <a:srgbClr val="5492B1"/>
                </a:solidFill>
                <a:latin typeface="Poppins"/>
                <a:ea typeface="Poppins"/>
                <a:cs typeface="Poppins"/>
                <a:sym typeface="Poppins"/>
              </a:rPr>
              <a:t>ental building blocks for execution logic</a:t>
            </a:r>
          </a:p>
          <a:p>
            <a:pPr algn="l" marL="647698" indent="-323849" lvl="1">
              <a:lnSpc>
                <a:spcPts val="4199"/>
              </a:lnSpc>
              <a:buFont typeface="Arial"/>
              <a:buChar char="•"/>
            </a:pPr>
            <a:r>
              <a:rPr lang="en-US" sz="2999">
                <a:solidFill>
                  <a:srgbClr val="5492B1"/>
                </a:solidFill>
                <a:latin typeface="Poppins"/>
                <a:ea typeface="Poppins"/>
                <a:cs typeface="Poppins"/>
                <a:sym typeface="Poppins"/>
              </a:rPr>
              <a:t>Control how runnables interact</a:t>
            </a:r>
          </a:p>
          <a:p>
            <a:pPr algn="l" marL="647698" indent="-323849" lvl="1">
              <a:lnSpc>
                <a:spcPts val="4199"/>
              </a:lnSpc>
              <a:buFont typeface="Arial"/>
              <a:buChar char="•"/>
            </a:pPr>
            <a:r>
              <a:rPr lang="en-US" sz="2999">
                <a:solidFill>
                  <a:srgbClr val="5492B1"/>
                </a:solidFill>
                <a:latin typeface="Poppins"/>
                <a:ea typeface="Poppins"/>
                <a:cs typeface="Poppins"/>
                <a:sym typeface="Poppins"/>
              </a:rPr>
              <a:t>Enable sequencing, parallelism, and conditional flows</a:t>
            </a:r>
          </a:p>
          <a:p>
            <a:pPr algn="l">
              <a:lnSpc>
                <a:spcPts val="4199"/>
              </a:lnSpc>
            </a:pPr>
            <a:r>
              <a:rPr lang="en-US" sz="2999">
                <a:solidFill>
                  <a:srgbClr val="5492B1"/>
                </a:solidFill>
                <a:latin typeface="Poppins"/>
                <a:ea typeface="Poppins"/>
                <a:cs typeface="Poppins"/>
                <a:sym typeface="Poppins"/>
              </a:rPr>
              <a:t>Examples:</a:t>
            </a:r>
          </a:p>
          <a:p>
            <a:pPr algn="l" marL="647698" indent="-323849" lvl="1">
              <a:lnSpc>
                <a:spcPts val="4199"/>
              </a:lnSpc>
              <a:buFont typeface="Arial"/>
              <a:buChar char="•"/>
            </a:pPr>
            <a:r>
              <a:rPr lang="en-US" sz="2999">
                <a:solidFill>
                  <a:srgbClr val="5492B1"/>
                </a:solidFill>
                <a:latin typeface="Poppins"/>
                <a:ea typeface="Poppins"/>
                <a:cs typeface="Poppins"/>
                <a:sym typeface="Poppins"/>
              </a:rPr>
              <a:t>RunnableSequence</a:t>
            </a:r>
          </a:p>
          <a:p>
            <a:pPr algn="l" marL="647698" indent="-323849" lvl="1">
              <a:lnSpc>
                <a:spcPts val="4199"/>
              </a:lnSpc>
              <a:buFont typeface="Arial"/>
              <a:buChar char="•"/>
            </a:pPr>
            <a:r>
              <a:rPr lang="en-US" sz="2999">
                <a:solidFill>
                  <a:srgbClr val="5492B1"/>
                </a:solidFill>
                <a:latin typeface="Poppins"/>
                <a:ea typeface="Poppins"/>
                <a:cs typeface="Poppins"/>
                <a:sym typeface="Poppins"/>
              </a:rPr>
              <a:t>Ru</a:t>
            </a:r>
            <a:r>
              <a:rPr lang="en-US" sz="2999">
                <a:solidFill>
                  <a:srgbClr val="5492B1"/>
                </a:solidFill>
                <a:latin typeface="Poppins"/>
                <a:ea typeface="Poppins"/>
                <a:cs typeface="Poppins"/>
                <a:sym typeface="Poppins"/>
              </a:rPr>
              <a:t>nnableParallel</a:t>
            </a:r>
          </a:p>
          <a:p>
            <a:pPr algn="l" marL="647698" indent="-323849" lvl="1">
              <a:lnSpc>
                <a:spcPts val="4199"/>
              </a:lnSpc>
              <a:buFont typeface="Arial"/>
              <a:buChar char="•"/>
            </a:pPr>
            <a:r>
              <a:rPr lang="en-US" sz="2999">
                <a:solidFill>
                  <a:srgbClr val="5492B1"/>
                </a:solidFill>
                <a:latin typeface="Poppins"/>
                <a:ea typeface="Poppins"/>
                <a:cs typeface="Poppins"/>
                <a:sym typeface="Poppins"/>
              </a:rPr>
              <a:t>RunnablePassthrough</a:t>
            </a:r>
          </a:p>
          <a:p>
            <a:pPr algn="just">
              <a:lnSpc>
                <a:spcPts val="4199"/>
              </a:lnSpc>
            </a:pPr>
          </a:p>
        </p:txBody>
      </p:sp>
    </p:spTree>
  </p:cSld>
  <p:clrMapOvr>
    <a:masterClrMapping/>
  </p:clrMapOvr>
  <p:transition spd="slow">
    <p:cover dir="l"/>
  </p:transition>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622935" y="2105367"/>
            <a:ext cx="17042130" cy="5402849"/>
          </a:xfrm>
          <a:prstGeom prst="rect">
            <a:avLst/>
          </a:prstGeom>
        </p:spPr>
      </p:pic>
    </p:spTree>
  </p:cSld>
  <p:clrMapOvr>
    <a:masterClrMapping/>
  </p:clrMapOvr>
  <p:transition spd="slow">
    <p:cover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DAHHqWVOKLY</dc:identifier>
  <dcterms:modified xsi:type="dcterms:W3CDTF">2011-08-01T06:04:30Z</dcterms:modified>
  <cp:revision>1</cp:revision>
  <dc:title>Langchain PPT - Team 1</dc:title>
</cp:coreProperties>
</file>